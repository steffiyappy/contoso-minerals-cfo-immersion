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AND SCOPE
Source: Scout session 1ec7073b-ad28-425a-90bb-08f619bddc20, "Bahasa Copilot Demo for Agriculture", heading "Finance · 21 skills".
Retrieved 2026-09-10. Reconstructed all 21 rows from m_search_sessions snippets around exact skill names in the prior answer. That answer transcribed the customer-provided screenshots. Screenshot images were not re-read during this build; this is not a live availability check.
All 21 names and original purposes were verified through exact-name session search snippets; see skills.json for the row-level retrieval keys and original purpose wording.
The wider list of 41 skills observed in the user tenant is not being represented as the customer baseline. No custom skill names were added.
EDITORIAL NOTES
Skill names are unchanged. Descriptions are condensed and localized.
Rose indicates the three demo focus skills: check-model, model-update, datapack-builder. Highlighting is not a prescribed runtime execution order.
The portfolio-rebalance description uses "trade proposals" to avoid implying automatic trade execution.
unit-economics concerns SaaS economics in the source; it is not described as a mining cost-analysis skill.
DEMO TASK WORDING
Requested uses include variance analysis, monthly management report drafting, financial commentary summaries, model analysis, and explaining actual-versus-budget movements.
These are tasks, not assertions that named skills with those labels are enabled.
Select and validate the relevant available skill; specifying multiple @mentions does not establish or guarantee runtime chaining.
No real customer financial values or private operational data are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B"/>
        </a:solidFill>
      </p:bgPr>
    </p:bg>
    <p:spTree>
      <p:nvGrpSpPr>
        <p:cNvPr id="1" name=""/>
        <p:cNvGrpSpPr/>
        <p:nvPr/>
      </p:nvGrpSpPr>
      <p:grpSpPr>
        <a:xfrm>
          <a:off x="0" y="0"/>
          <a:ext cx="0" cy="0"/>
          <a:chOff x="0" y="0"/>
          <a:chExt cx="0" cy="0"/>
        </a:xfrm>
      </p:grpSpPr>
      <p:sp>
        <p:nvSpPr>
          <p:cNvPr id="2" name="Text 0"/>
          <p:cNvSpPr/>
          <p:nvPr/>
        </p:nvSpPr>
        <p:spPr>
          <a:xfrm>
            <a:off x="502920" y="384048"/>
            <a:ext cx="11247120" cy="585216"/>
          </a:xfrm>
          <a:prstGeom prst="rect">
            <a:avLst/>
          </a:prstGeom>
          <a:noFill/>
          <a:ln/>
        </p:spPr>
        <p:txBody>
          <a:bodyPr wrap="square" lIns="0" tIns="0" rIns="0" bIns="0" rtlCol="0" anchor="ctr"/>
          <a:lstStyle/>
          <a:p>
            <a:pPr indent="0" marL="0">
              <a:buNone/>
            </a:pPr>
            <a:r>
              <a:rPr lang="en-US" altLang="en-US" sz="3800" b="1" dirty="0">
                <a:solidFill>
                  <a:srgbClr val="29272E"/>
                </a:solidFill>
                <a:latin typeface="Aptos Display" pitchFamily="34" charset="0"/>
                <a:ea typeface="Aptos Display" pitchFamily="34" charset="-122"/>
                <a:cs typeface="Aptos Display" pitchFamily="34" charset="-120"/>
              </a:rPr>
              <a:t>21 Excel Finance skills</a:t>
            </a:r>
            <a:endParaRPr lang="en-US" sz="3800" dirty="0"/>
          </a:p>
        </p:txBody>
      </p:sp>
      <p:sp>
        <p:nvSpPr>
          <p:cNvPr id="3" name="Text 1"/>
          <p:cNvSpPr/>
          <p:nvPr/>
        </p:nvSpPr>
        <p:spPr>
          <a:xfrm>
            <a:off x="521208" y="1024128"/>
            <a:ext cx="11338560" cy="310896"/>
          </a:xfrm>
          <a:prstGeom prst="rect">
            <a:avLst/>
          </a:prstGeom>
          <a:noFill/>
          <a:ln/>
        </p:spPr>
        <p:txBody>
          <a:bodyPr wrap="square" lIns="0" tIns="0" rIns="0" bIns="0" rtlCol="0" anchor="ctr"/>
          <a:lstStyle/>
          <a:p>
            <a:pPr indent="0" marL="0">
              <a:buNone/>
            </a:pPr>
            <a:r>
              <a:rPr lang="en-US" altLang="en-US" sz="1800" dirty="0">
                <a:solidFill>
                  <a:srgbClr val="585660"/>
                </a:solidFill>
                <a:latin typeface="Aptos" pitchFamily="34" charset="0"/>
                <a:ea typeface="Aptos" pitchFamily="34" charset="-122"/>
                <a:cs typeface="Aptos" pitchFamily="34" charset="-120"/>
              </a:rPr>
              <a:t>What each skill is for — customer screenshot reference</a:t>
            </a:r>
            <a:endParaRPr lang="en-US" sz="1800" dirty="0"/>
          </a:p>
        </p:txBody>
      </p:sp>
      <p:sp>
        <p:nvSpPr>
          <p:cNvPr id="4" name="Shape 2"/>
          <p:cNvSpPr/>
          <p:nvPr/>
        </p:nvSpPr>
        <p:spPr>
          <a:xfrm>
            <a:off x="12280392" y="667512"/>
            <a:ext cx="1847088" cy="448056"/>
          </a:xfrm>
          <a:prstGeom prst="roundRect">
            <a:avLst>
              <a:gd name="adj" fmla="val 24490"/>
            </a:avLst>
          </a:prstGeom>
          <a:solidFill>
            <a:srgbClr val="F8E8ED"/>
          </a:solidFill>
          <a:ln w="10160">
            <a:solidFill>
              <a:srgbClr val="C78699"/>
            </a:solidFill>
            <a:prstDash val="solid"/>
          </a:ln>
        </p:spPr>
      </p:sp>
      <p:sp>
        <p:nvSpPr>
          <p:cNvPr id="5" name="Text 3"/>
          <p:cNvSpPr/>
          <p:nvPr/>
        </p:nvSpPr>
        <p:spPr>
          <a:xfrm>
            <a:off x="12399264" y="717804"/>
            <a:ext cx="1609344" cy="310896"/>
          </a:xfrm>
          <a:prstGeom prst="rect">
            <a:avLst/>
          </a:prstGeom>
          <a:noFill/>
          <a:ln/>
        </p:spPr>
        <p:txBody>
          <a:bodyPr wrap="square" lIns="0" tIns="0" rIns="0" bIns="0" rtlCol="0" anchor="ctr"/>
          <a:lstStyle/>
          <a:p>
            <a:pPr algn="ctr" indent="0" marL="0">
              <a:buNone/>
            </a:pPr>
            <a:r>
              <a:rPr lang="en-US" altLang="en-US" sz="1700" b="1" dirty="0">
                <a:solidFill>
                  <a:srgbClr val="94334F"/>
                </a:solidFill>
                <a:latin typeface="Aptos" pitchFamily="34" charset="0"/>
                <a:ea typeface="Aptos" pitchFamily="34" charset="-122"/>
                <a:cs typeface="Aptos" pitchFamily="34" charset="-120"/>
              </a:rPr>
              <a:t>Demo focus</a:t>
            </a:r>
            <a:endParaRPr lang="en-US" sz="1700" dirty="0"/>
          </a:p>
        </p:txBody>
      </p:sp>
      <p:sp>
        <p:nvSpPr>
          <p:cNvPr id="6" name="Shape 4"/>
          <p:cNvSpPr/>
          <p:nvPr/>
        </p:nvSpPr>
        <p:spPr>
          <a:xfrm>
            <a:off x="502920" y="1609344"/>
            <a:ext cx="4389120" cy="713232"/>
          </a:xfrm>
          <a:prstGeom prst="roundRect">
            <a:avLst>
              <a:gd name="adj" fmla="val 11538"/>
            </a:avLst>
          </a:prstGeom>
          <a:solidFill>
            <a:srgbClr val="F0EFF2"/>
          </a:solidFill>
          <a:ln w="6985">
            <a:solidFill>
              <a:srgbClr val="DFDCE2"/>
            </a:solidFill>
            <a:prstDash val="solid"/>
          </a:ln>
        </p:spPr>
      </p:sp>
      <p:sp>
        <p:nvSpPr>
          <p:cNvPr id="7" name="Text 5"/>
          <p:cNvSpPr/>
          <p:nvPr/>
        </p:nvSpPr>
        <p:spPr>
          <a:xfrm>
            <a:off x="676656" y="1673352"/>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3-statements</a:t>
            </a:r>
            <a:endParaRPr lang="en-US" sz="2000" dirty="0"/>
          </a:p>
        </p:txBody>
      </p:sp>
      <p:sp>
        <p:nvSpPr>
          <p:cNvPr id="8" name="Text 6"/>
          <p:cNvSpPr/>
          <p:nvPr/>
        </p:nvSpPr>
        <p:spPr>
          <a:xfrm>
            <a:off x="676656" y="2002536"/>
            <a:ext cx="4041648" cy="274320"/>
          </a:xfrm>
          <a:prstGeom prst="rect">
            <a:avLst/>
          </a:prstGeom>
          <a:noFill/>
          <a:ln/>
        </p:spPr>
        <p:txBody>
          <a:bodyPr wrap="square" lIns="0" tIns="0" rIns="0" bIns="0" rtlCol="0" anchor="ctr"/>
          <a:lstStyle/>
          <a:p>
            <a:pPr indent="0" marL="0">
              <a:buNone/>
            </a:pPr>
            <a:r>
              <a:rPr lang="en-US" altLang="en-US" sz="1700" dirty="0">
                <a:solidFill>
                  <a:srgbClr val="585660"/>
                </a:solidFill>
                <a:latin typeface="Aptos" pitchFamily="34" charset="0"/>
                <a:ea typeface="Aptos" pitchFamily="34" charset="-122"/>
                <a:cs typeface="Aptos" pitchFamily="34" charset="-120"/>
              </a:rPr>
              <a:t>Build three-statement financial models.</a:t>
            </a:r>
            <a:endParaRPr lang="en-US" sz="1700" dirty="0"/>
          </a:p>
        </p:txBody>
      </p:sp>
      <p:sp>
        <p:nvSpPr>
          <p:cNvPr id="9" name="Shape 7"/>
          <p:cNvSpPr/>
          <p:nvPr/>
        </p:nvSpPr>
        <p:spPr>
          <a:xfrm>
            <a:off x="502920" y="2404872"/>
            <a:ext cx="4389120" cy="713232"/>
          </a:xfrm>
          <a:prstGeom prst="roundRect">
            <a:avLst>
              <a:gd name="adj" fmla="val 11538"/>
            </a:avLst>
          </a:prstGeom>
          <a:solidFill>
            <a:srgbClr val="F0EFF2"/>
          </a:solidFill>
          <a:ln w="6985">
            <a:solidFill>
              <a:srgbClr val="DFDCE2"/>
            </a:solidFill>
            <a:prstDash val="solid"/>
          </a:ln>
        </p:spPr>
      </p:sp>
      <p:sp>
        <p:nvSpPr>
          <p:cNvPr id="10" name="Text 8"/>
          <p:cNvSpPr/>
          <p:nvPr/>
        </p:nvSpPr>
        <p:spPr>
          <a:xfrm>
            <a:off x="676656" y="2468880"/>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buyer-list</a:t>
            </a:r>
            <a:endParaRPr lang="en-US" sz="2000" dirty="0"/>
          </a:p>
        </p:txBody>
      </p:sp>
      <p:sp>
        <p:nvSpPr>
          <p:cNvPr id="11" name="Text 9"/>
          <p:cNvSpPr/>
          <p:nvPr/>
        </p:nvSpPr>
        <p:spPr>
          <a:xfrm>
            <a:off x="676656" y="2798064"/>
            <a:ext cx="4041648" cy="274320"/>
          </a:xfrm>
          <a:prstGeom prst="rect">
            <a:avLst/>
          </a:prstGeom>
          <a:noFill/>
          <a:ln/>
        </p:spPr>
        <p:txBody>
          <a:bodyPr wrap="square" lIns="0" tIns="0" rIns="0" bIns="0" rtlCol="0" anchor="ctr"/>
          <a:lstStyle/>
          <a:p>
            <a:pPr indent="0" marL="0">
              <a:buNone/>
            </a:pPr>
            <a:r>
              <a:rPr lang="en-US" altLang="en-US" sz="1700" dirty="0">
                <a:solidFill>
                  <a:srgbClr val="585660"/>
                </a:solidFill>
                <a:latin typeface="Aptos" pitchFamily="34" charset="0"/>
                <a:ea typeface="Aptos" pitchFamily="34" charset="-122"/>
                <a:cs typeface="Aptos" pitchFamily="34" charset="-120"/>
              </a:rPr>
              <a:t>Map potential M&amp;A buyers.</a:t>
            </a:r>
            <a:endParaRPr lang="en-US" sz="1700" dirty="0"/>
          </a:p>
        </p:txBody>
      </p:sp>
      <p:sp>
        <p:nvSpPr>
          <p:cNvPr id="12" name="Shape 10"/>
          <p:cNvSpPr/>
          <p:nvPr/>
        </p:nvSpPr>
        <p:spPr>
          <a:xfrm>
            <a:off x="502920" y="3200400"/>
            <a:ext cx="4389120" cy="713232"/>
          </a:xfrm>
          <a:prstGeom prst="roundRect">
            <a:avLst>
              <a:gd name="adj" fmla="val 11538"/>
            </a:avLst>
          </a:prstGeom>
          <a:solidFill>
            <a:srgbClr val="F0EFF2"/>
          </a:solidFill>
          <a:ln w="6985">
            <a:solidFill>
              <a:srgbClr val="DFDCE2"/>
            </a:solidFill>
            <a:prstDash val="solid"/>
          </a:ln>
        </p:spPr>
      </p:sp>
      <p:sp>
        <p:nvSpPr>
          <p:cNvPr id="13" name="Text 11"/>
          <p:cNvSpPr/>
          <p:nvPr/>
        </p:nvSpPr>
        <p:spPr>
          <a:xfrm>
            <a:off x="676656" y="3264408"/>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catalyst-calendar</a:t>
            </a:r>
            <a:endParaRPr lang="en-US" sz="2000" dirty="0"/>
          </a:p>
        </p:txBody>
      </p:sp>
      <p:sp>
        <p:nvSpPr>
          <p:cNvPr id="14" name="Text 12"/>
          <p:cNvSpPr/>
          <p:nvPr/>
        </p:nvSpPr>
        <p:spPr>
          <a:xfrm>
            <a:off x="676656" y="3593592"/>
            <a:ext cx="4041648" cy="274320"/>
          </a:xfrm>
          <a:prstGeom prst="rect">
            <a:avLst/>
          </a:prstGeom>
          <a:noFill/>
          <a:ln/>
        </p:spPr>
        <p:txBody>
          <a:bodyPr wrap="square" lIns="0" tIns="0" rIns="0" bIns="0" rtlCol="0" anchor="ctr"/>
          <a:lstStyle/>
          <a:p>
            <a:pPr indent="0" marL="0">
              <a:buNone/>
            </a:pPr>
            <a:r>
              <a:rPr lang="en-US" altLang="en-US" sz="1700" dirty="0">
                <a:solidFill>
                  <a:srgbClr val="585660"/>
                </a:solidFill>
                <a:latin typeface="Aptos" pitchFamily="34" charset="0"/>
                <a:ea typeface="Aptos" pitchFamily="34" charset="-122"/>
                <a:cs typeface="Aptos" pitchFamily="34" charset="-120"/>
              </a:rPr>
              <a:t>Track upcoming market catalysts.</a:t>
            </a:r>
            <a:endParaRPr lang="en-US" sz="1700" dirty="0"/>
          </a:p>
        </p:txBody>
      </p:sp>
      <p:sp>
        <p:nvSpPr>
          <p:cNvPr id="15" name="Shape 13"/>
          <p:cNvSpPr/>
          <p:nvPr/>
        </p:nvSpPr>
        <p:spPr>
          <a:xfrm>
            <a:off x="502920" y="3995928"/>
            <a:ext cx="4389120" cy="713232"/>
          </a:xfrm>
          <a:prstGeom prst="roundRect">
            <a:avLst>
              <a:gd name="adj" fmla="val 11538"/>
            </a:avLst>
          </a:prstGeom>
          <a:solidFill>
            <a:srgbClr val="F8E8ED"/>
          </a:solidFill>
          <a:ln w="6985">
            <a:solidFill>
              <a:srgbClr val="C78699"/>
            </a:solidFill>
            <a:prstDash val="solid"/>
          </a:ln>
        </p:spPr>
      </p:sp>
      <p:sp>
        <p:nvSpPr>
          <p:cNvPr id="16" name="Text 14"/>
          <p:cNvSpPr/>
          <p:nvPr/>
        </p:nvSpPr>
        <p:spPr>
          <a:xfrm>
            <a:off x="676656" y="4059936"/>
            <a:ext cx="4041648" cy="320040"/>
          </a:xfrm>
          <a:prstGeom prst="rect">
            <a:avLst/>
          </a:prstGeom>
          <a:noFill/>
          <a:ln/>
        </p:spPr>
        <p:txBody>
          <a:bodyPr wrap="square" lIns="0" tIns="0" rIns="0" bIns="0" rtlCol="0" anchor="ctr"/>
          <a:lstStyle/>
          <a:p>
            <a:pPr indent="0" marL="0">
              <a:buNone/>
            </a:pPr>
            <a:r>
              <a:rPr lang="en-US" altLang="en-US" sz="2000" b="1" dirty="0">
                <a:solidFill>
                  <a:srgbClr val="94334F"/>
                </a:solidFill>
                <a:latin typeface="Aptos" pitchFamily="34" charset="0"/>
                <a:ea typeface="Aptos" pitchFamily="34" charset="-122"/>
                <a:cs typeface="Aptos" pitchFamily="34" charset="-120"/>
              </a:rPr>
              <a:t>check-model</a:t>
            </a:r>
            <a:endParaRPr lang="en-US" sz="2000" dirty="0"/>
          </a:p>
        </p:txBody>
      </p:sp>
      <p:sp>
        <p:nvSpPr>
          <p:cNvPr id="17" name="Text 15"/>
          <p:cNvSpPr/>
          <p:nvPr/>
        </p:nvSpPr>
        <p:spPr>
          <a:xfrm>
            <a:off x="676656" y="4389120"/>
            <a:ext cx="4041648" cy="274320"/>
          </a:xfrm>
          <a:prstGeom prst="rect">
            <a:avLst/>
          </a:prstGeom>
          <a:noFill/>
          <a:ln/>
        </p:spPr>
        <p:txBody>
          <a:bodyPr wrap="square" lIns="0" tIns="0" rIns="0" bIns="0" rtlCol="0" anchor="ctr"/>
          <a:lstStyle/>
          <a:p>
            <a:pPr indent="0" marL="0">
              <a:buNone/>
            </a:pPr>
            <a:r>
              <a:rPr lang="en-US" altLang="en-US" sz="1700" dirty="0">
                <a:solidFill>
                  <a:srgbClr val="94334F"/>
                </a:solidFill>
                <a:latin typeface="Aptos" pitchFamily="34" charset="0"/>
                <a:ea typeface="Aptos" pitchFamily="34" charset="-122"/>
                <a:cs typeface="Aptos" pitchFamily="34" charset="-120"/>
              </a:rPr>
              <a:t>Find financial-model errors.</a:t>
            </a:r>
            <a:endParaRPr lang="en-US" sz="1700" dirty="0"/>
          </a:p>
        </p:txBody>
      </p:sp>
      <p:sp>
        <p:nvSpPr>
          <p:cNvPr id="18" name="Shape 16"/>
          <p:cNvSpPr/>
          <p:nvPr/>
        </p:nvSpPr>
        <p:spPr>
          <a:xfrm>
            <a:off x="502920" y="4791456"/>
            <a:ext cx="4389120" cy="713232"/>
          </a:xfrm>
          <a:prstGeom prst="roundRect">
            <a:avLst>
              <a:gd name="adj" fmla="val 11538"/>
            </a:avLst>
          </a:prstGeom>
          <a:solidFill>
            <a:srgbClr val="F0EFF2"/>
          </a:solidFill>
          <a:ln w="6985">
            <a:solidFill>
              <a:srgbClr val="DFDCE2"/>
            </a:solidFill>
            <a:prstDash val="solid"/>
          </a:ln>
        </p:spPr>
      </p:sp>
      <p:sp>
        <p:nvSpPr>
          <p:cNvPr id="19" name="Text 17"/>
          <p:cNvSpPr/>
          <p:nvPr/>
        </p:nvSpPr>
        <p:spPr>
          <a:xfrm>
            <a:off x="676656" y="4855464"/>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comps-analysis</a:t>
            </a:r>
            <a:endParaRPr lang="en-US" sz="2000" dirty="0"/>
          </a:p>
        </p:txBody>
      </p:sp>
      <p:sp>
        <p:nvSpPr>
          <p:cNvPr id="20" name="Text 18"/>
          <p:cNvSpPr/>
          <p:nvPr/>
        </p:nvSpPr>
        <p:spPr>
          <a:xfrm>
            <a:off x="676656" y="5184648"/>
            <a:ext cx="4041648" cy="274320"/>
          </a:xfrm>
          <a:prstGeom prst="rect">
            <a:avLst/>
          </a:prstGeom>
          <a:noFill/>
          <a:ln/>
        </p:spPr>
        <p:txBody>
          <a:bodyPr wrap="square" lIns="0" tIns="0" rIns="0" bIns="0" rtlCol="0" anchor="ctr"/>
          <a:lstStyle/>
          <a:p>
            <a:pPr indent="0" marL="0">
              <a:buNone/>
            </a:pPr>
            <a:r>
              <a:rPr lang="en-US" altLang="en-US" sz="1700" dirty="0">
                <a:solidFill>
                  <a:srgbClr val="585660"/>
                </a:solidFill>
                <a:latin typeface="Aptos" pitchFamily="34" charset="0"/>
                <a:ea typeface="Aptos" pitchFamily="34" charset="-122"/>
                <a:cs typeface="Aptos" pitchFamily="34" charset="-120"/>
              </a:rPr>
              <a:t>Build comparable-company analyses.</a:t>
            </a:r>
            <a:endParaRPr lang="en-US" sz="1700" dirty="0"/>
          </a:p>
        </p:txBody>
      </p:sp>
      <p:sp>
        <p:nvSpPr>
          <p:cNvPr id="21" name="Shape 19"/>
          <p:cNvSpPr/>
          <p:nvPr/>
        </p:nvSpPr>
        <p:spPr>
          <a:xfrm>
            <a:off x="502920" y="5586984"/>
            <a:ext cx="4389120" cy="713232"/>
          </a:xfrm>
          <a:prstGeom prst="roundRect">
            <a:avLst>
              <a:gd name="adj" fmla="val 11538"/>
            </a:avLst>
          </a:prstGeom>
          <a:solidFill>
            <a:srgbClr val="F8E8ED"/>
          </a:solidFill>
          <a:ln w="6985">
            <a:solidFill>
              <a:srgbClr val="C78699"/>
            </a:solidFill>
            <a:prstDash val="solid"/>
          </a:ln>
        </p:spPr>
      </p:sp>
      <p:sp>
        <p:nvSpPr>
          <p:cNvPr id="22" name="Text 20"/>
          <p:cNvSpPr/>
          <p:nvPr/>
        </p:nvSpPr>
        <p:spPr>
          <a:xfrm>
            <a:off x="676656" y="5650992"/>
            <a:ext cx="4041648" cy="320040"/>
          </a:xfrm>
          <a:prstGeom prst="rect">
            <a:avLst/>
          </a:prstGeom>
          <a:noFill/>
          <a:ln/>
        </p:spPr>
        <p:txBody>
          <a:bodyPr wrap="square" lIns="0" tIns="0" rIns="0" bIns="0" rtlCol="0" anchor="ctr"/>
          <a:lstStyle/>
          <a:p>
            <a:pPr indent="0" marL="0">
              <a:buNone/>
            </a:pPr>
            <a:r>
              <a:rPr lang="en-US" altLang="en-US" sz="2000" b="1" dirty="0">
                <a:solidFill>
                  <a:srgbClr val="94334F"/>
                </a:solidFill>
                <a:latin typeface="Aptos" pitchFamily="34" charset="0"/>
                <a:ea typeface="Aptos" pitchFamily="34" charset="-122"/>
                <a:cs typeface="Aptos" pitchFamily="34" charset="-120"/>
              </a:rPr>
              <a:t>datapack-builder</a:t>
            </a:r>
            <a:endParaRPr lang="en-US" sz="2000" dirty="0"/>
          </a:p>
        </p:txBody>
      </p:sp>
      <p:sp>
        <p:nvSpPr>
          <p:cNvPr id="23" name="Text 21"/>
          <p:cNvSpPr/>
          <p:nvPr/>
        </p:nvSpPr>
        <p:spPr>
          <a:xfrm>
            <a:off x="676656" y="5980176"/>
            <a:ext cx="4041648" cy="274320"/>
          </a:xfrm>
          <a:prstGeom prst="rect">
            <a:avLst/>
          </a:prstGeom>
          <a:noFill/>
          <a:ln/>
        </p:spPr>
        <p:txBody>
          <a:bodyPr wrap="square" lIns="0" tIns="0" rIns="0" bIns="0" rtlCol="0" anchor="ctr"/>
          <a:lstStyle/>
          <a:p>
            <a:pPr indent="0" marL="0">
              <a:buNone/>
            </a:pPr>
            <a:r>
              <a:rPr lang="en-US" altLang="en-US" sz="1700" dirty="0">
                <a:solidFill>
                  <a:srgbClr val="94334F"/>
                </a:solidFill>
                <a:latin typeface="Aptos" pitchFamily="34" charset="0"/>
                <a:ea typeface="Aptos" pitchFamily="34" charset="-122"/>
                <a:cs typeface="Aptos" pitchFamily="34" charset="-120"/>
              </a:rPr>
              <a:t>Build financial data packs.</a:t>
            </a:r>
            <a:endParaRPr lang="en-US" sz="1700" dirty="0"/>
          </a:p>
        </p:txBody>
      </p:sp>
      <p:sp>
        <p:nvSpPr>
          <p:cNvPr id="24" name="Shape 22"/>
          <p:cNvSpPr/>
          <p:nvPr/>
        </p:nvSpPr>
        <p:spPr>
          <a:xfrm>
            <a:off x="502920" y="6382512"/>
            <a:ext cx="4389120" cy="713232"/>
          </a:xfrm>
          <a:prstGeom prst="roundRect">
            <a:avLst>
              <a:gd name="adj" fmla="val 11538"/>
            </a:avLst>
          </a:prstGeom>
          <a:solidFill>
            <a:srgbClr val="F0EFF2"/>
          </a:solidFill>
          <a:ln w="6985">
            <a:solidFill>
              <a:srgbClr val="DFDCE2"/>
            </a:solidFill>
            <a:prstDash val="solid"/>
          </a:ln>
        </p:spPr>
      </p:sp>
      <p:sp>
        <p:nvSpPr>
          <p:cNvPr id="25" name="Text 23"/>
          <p:cNvSpPr/>
          <p:nvPr/>
        </p:nvSpPr>
        <p:spPr>
          <a:xfrm>
            <a:off x="676656" y="6446520"/>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dd-checklist</a:t>
            </a:r>
            <a:endParaRPr lang="en-US" sz="2000" dirty="0"/>
          </a:p>
        </p:txBody>
      </p:sp>
      <p:sp>
        <p:nvSpPr>
          <p:cNvPr id="26" name="Text 24"/>
          <p:cNvSpPr/>
          <p:nvPr/>
        </p:nvSpPr>
        <p:spPr>
          <a:xfrm>
            <a:off x="676656" y="6775704"/>
            <a:ext cx="4041648" cy="274320"/>
          </a:xfrm>
          <a:prstGeom prst="rect">
            <a:avLst/>
          </a:prstGeom>
          <a:noFill/>
          <a:ln/>
        </p:spPr>
        <p:txBody>
          <a:bodyPr wrap="square" lIns="0" tIns="0" rIns="0" bIns="0" rtlCol="0" anchor="ctr"/>
          <a:lstStyle/>
          <a:p>
            <a:pPr indent="0" marL="0">
              <a:buNone/>
            </a:pPr>
            <a:r>
              <a:rPr lang="en-US" altLang="en-US" sz="1700" dirty="0">
                <a:solidFill>
                  <a:srgbClr val="585660"/>
                </a:solidFill>
                <a:latin typeface="Aptos" pitchFamily="34" charset="0"/>
                <a:ea typeface="Aptos" pitchFamily="34" charset="-122"/>
                <a:cs typeface="Aptos" pitchFamily="34" charset="-120"/>
              </a:rPr>
              <a:t>Track due-diligence checklists.</a:t>
            </a:r>
            <a:endParaRPr lang="en-US" sz="1700" dirty="0"/>
          </a:p>
        </p:txBody>
      </p:sp>
      <p:sp>
        <p:nvSpPr>
          <p:cNvPr id="27" name="Shape 25"/>
          <p:cNvSpPr/>
          <p:nvPr/>
        </p:nvSpPr>
        <p:spPr>
          <a:xfrm>
            <a:off x="5120640" y="1609344"/>
            <a:ext cx="4389120" cy="713232"/>
          </a:xfrm>
          <a:prstGeom prst="roundRect">
            <a:avLst>
              <a:gd name="adj" fmla="val 11538"/>
            </a:avLst>
          </a:prstGeom>
          <a:solidFill>
            <a:srgbClr val="F0EFF2"/>
          </a:solidFill>
          <a:ln w="6985">
            <a:solidFill>
              <a:srgbClr val="DFDCE2"/>
            </a:solidFill>
            <a:prstDash val="solid"/>
          </a:ln>
        </p:spPr>
      </p:sp>
      <p:sp>
        <p:nvSpPr>
          <p:cNvPr id="28" name="Text 26"/>
          <p:cNvSpPr/>
          <p:nvPr/>
        </p:nvSpPr>
        <p:spPr>
          <a:xfrm>
            <a:off x="5294376" y="1673352"/>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dd-meeting-prep</a:t>
            </a:r>
            <a:endParaRPr lang="en-US" sz="2000" dirty="0"/>
          </a:p>
        </p:txBody>
      </p:sp>
      <p:sp>
        <p:nvSpPr>
          <p:cNvPr id="29" name="Text 27"/>
          <p:cNvSpPr/>
          <p:nvPr/>
        </p:nvSpPr>
        <p:spPr>
          <a:xfrm>
            <a:off x="5294376" y="2002536"/>
            <a:ext cx="4041648" cy="274320"/>
          </a:xfrm>
          <a:prstGeom prst="rect">
            <a:avLst/>
          </a:prstGeom>
          <a:noFill/>
          <a:ln/>
        </p:spPr>
        <p:txBody>
          <a:bodyPr wrap="square" lIns="0" tIns="0" rIns="0" bIns="0" rtlCol="0" anchor="ctr"/>
          <a:lstStyle/>
          <a:p>
            <a:pPr indent="0" marL="0">
              <a:buNone/>
            </a:pPr>
            <a:r>
              <a:rPr lang="en-US" altLang="en-US" sz="1700" dirty="0">
                <a:solidFill>
                  <a:srgbClr val="585660"/>
                </a:solidFill>
                <a:latin typeface="Aptos" pitchFamily="34" charset="0"/>
                <a:ea typeface="Aptos" pitchFamily="34" charset="-122"/>
                <a:cs typeface="Aptos" pitchFamily="34" charset="-120"/>
              </a:rPr>
              <a:t>Prepare for due-diligence meetings.</a:t>
            </a:r>
            <a:endParaRPr lang="en-US" sz="1700" dirty="0"/>
          </a:p>
        </p:txBody>
      </p:sp>
      <p:sp>
        <p:nvSpPr>
          <p:cNvPr id="30" name="Shape 28"/>
          <p:cNvSpPr/>
          <p:nvPr/>
        </p:nvSpPr>
        <p:spPr>
          <a:xfrm>
            <a:off x="5120640" y="2404872"/>
            <a:ext cx="4389120" cy="713232"/>
          </a:xfrm>
          <a:prstGeom prst="roundRect">
            <a:avLst>
              <a:gd name="adj" fmla="val 11538"/>
            </a:avLst>
          </a:prstGeom>
          <a:solidFill>
            <a:srgbClr val="F0EFF2"/>
          </a:solidFill>
          <a:ln w="6985">
            <a:solidFill>
              <a:srgbClr val="DFDCE2"/>
            </a:solidFill>
            <a:prstDash val="solid"/>
          </a:ln>
        </p:spPr>
      </p:sp>
      <p:sp>
        <p:nvSpPr>
          <p:cNvPr id="31" name="Text 29"/>
          <p:cNvSpPr/>
          <p:nvPr/>
        </p:nvSpPr>
        <p:spPr>
          <a:xfrm>
            <a:off x="5294376" y="2468880"/>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deal-screening</a:t>
            </a:r>
            <a:endParaRPr lang="en-US" sz="2000" dirty="0"/>
          </a:p>
        </p:txBody>
      </p:sp>
      <p:sp>
        <p:nvSpPr>
          <p:cNvPr id="32" name="Text 30"/>
          <p:cNvSpPr/>
          <p:nvPr/>
        </p:nvSpPr>
        <p:spPr>
          <a:xfrm>
            <a:off x="5294376" y="2798064"/>
            <a:ext cx="4041648" cy="274320"/>
          </a:xfrm>
          <a:prstGeom prst="rect">
            <a:avLst/>
          </a:prstGeom>
          <a:noFill/>
          <a:ln/>
        </p:spPr>
        <p:txBody>
          <a:bodyPr wrap="square" lIns="0" tIns="0" rIns="0" bIns="0" rtlCol="0" anchor="ctr"/>
          <a:lstStyle/>
          <a:p>
            <a:pPr indent="0" marL="0">
              <a:buNone/>
            </a:pPr>
            <a:r>
              <a:rPr lang="en-US" altLang="en-US" sz="1700" dirty="0">
                <a:solidFill>
                  <a:srgbClr val="585660"/>
                </a:solidFill>
                <a:latin typeface="Aptos" pitchFamily="34" charset="0"/>
                <a:ea typeface="Aptos" pitchFamily="34" charset="-122"/>
                <a:cs typeface="Aptos" pitchFamily="34" charset="-120"/>
              </a:rPr>
              <a:t>Screen incoming deal opportunities.</a:t>
            </a:r>
            <a:endParaRPr lang="en-US" sz="1700" dirty="0"/>
          </a:p>
        </p:txBody>
      </p:sp>
      <p:sp>
        <p:nvSpPr>
          <p:cNvPr id="33" name="Shape 31"/>
          <p:cNvSpPr/>
          <p:nvPr/>
        </p:nvSpPr>
        <p:spPr>
          <a:xfrm>
            <a:off x="5120640" y="3200400"/>
            <a:ext cx="4389120" cy="713232"/>
          </a:xfrm>
          <a:prstGeom prst="roundRect">
            <a:avLst>
              <a:gd name="adj" fmla="val 11538"/>
            </a:avLst>
          </a:prstGeom>
          <a:solidFill>
            <a:srgbClr val="F0EFF2"/>
          </a:solidFill>
          <a:ln w="6985">
            <a:solidFill>
              <a:srgbClr val="DFDCE2"/>
            </a:solidFill>
            <a:prstDash val="solid"/>
          </a:ln>
        </p:spPr>
      </p:sp>
      <p:sp>
        <p:nvSpPr>
          <p:cNvPr id="34" name="Text 32"/>
          <p:cNvSpPr/>
          <p:nvPr/>
        </p:nvSpPr>
        <p:spPr>
          <a:xfrm>
            <a:off x="5294376" y="3264408"/>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deal-sourcing</a:t>
            </a:r>
            <a:endParaRPr lang="en-US" sz="2000" dirty="0"/>
          </a:p>
        </p:txBody>
      </p:sp>
      <p:sp>
        <p:nvSpPr>
          <p:cNvPr id="35" name="Text 33"/>
          <p:cNvSpPr/>
          <p:nvPr/>
        </p:nvSpPr>
        <p:spPr>
          <a:xfrm>
            <a:off x="5294376" y="3593592"/>
            <a:ext cx="4041648" cy="274320"/>
          </a:xfrm>
          <a:prstGeom prst="rect">
            <a:avLst/>
          </a:prstGeom>
          <a:noFill/>
          <a:ln/>
        </p:spPr>
        <p:txBody>
          <a:bodyPr wrap="square" lIns="0" tIns="0" rIns="0" bIns="0" rtlCol="0" anchor="ctr"/>
          <a:lstStyle/>
          <a:p>
            <a:pPr indent="0" marL="0">
              <a:buNone/>
            </a:pPr>
            <a:r>
              <a:rPr lang="en-US" altLang="en-US" sz="1700" dirty="0">
                <a:solidFill>
                  <a:srgbClr val="585660"/>
                </a:solidFill>
                <a:latin typeface="Aptos" pitchFamily="34" charset="0"/>
                <a:ea typeface="Aptos" pitchFamily="34" charset="-122"/>
                <a:cs typeface="Aptos" pitchFamily="34" charset="-120"/>
              </a:rPr>
              <a:t>Find deals and draft outreach.</a:t>
            </a:r>
            <a:endParaRPr lang="en-US" sz="1700" dirty="0"/>
          </a:p>
        </p:txBody>
      </p:sp>
      <p:sp>
        <p:nvSpPr>
          <p:cNvPr id="36" name="Shape 34"/>
          <p:cNvSpPr/>
          <p:nvPr/>
        </p:nvSpPr>
        <p:spPr>
          <a:xfrm>
            <a:off x="5120640" y="3995928"/>
            <a:ext cx="4389120" cy="713232"/>
          </a:xfrm>
          <a:prstGeom prst="roundRect">
            <a:avLst>
              <a:gd name="adj" fmla="val 11538"/>
            </a:avLst>
          </a:prstGeom>
          <a:solidFill>
            <a:srgbClr val="F0EFF2"/>
          </a:solidFill>
          <a:ln w="6985">
            <a:solidFill>
              <a:srgbClr val="DFDCE2"/>
            </a:solidFill>
            <a:prstDash val="solid"/>
          </a:ln>
        </p:spPr>
      </p:sp>
      <p:sp>
        <p:nvSpPr>
          <p:cNvPr id="37" name="Text 35"/>
          <p:cNvSpPr/>
          <p:nvPr/>
        </p:nvSpPr>
        <p:spPr>
          <a:xfrm>
            <a:off x="5294376" y="4059936"/>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deal-tracker</a:t>
            </a:r>
            <a:endParaRPr lang="en-US" sz="2000" dirty="0"/>
          </a:p>
        </p:txBody>
      </p:sp>
      <p:sp>
        <p:nvSpPr>
          <p:cNvPr id="38" name="Text 36"/>
          <p:cNvSpPr/>
          <p:nvPr/>
        </p:nvSpPr>
        <p:spPr>
          <a:xfrm>
            <a:off x="5294376" y="4389120"/>
            <a:ext cx="4041648" cy="274320"/>
          </a:xfrm>
          <a:prstGeom prst="rect">
            <a:avLst/>
          </a:prstGeom>
          <a:noFill/>
          <a:ln/>
        </p:spPr>
        <p:txBody>
          <a:bodyPr wrap="square" lIns="0" tIns="0" rIns="0" bIns="0" rtlCol="0" anchor="ctr"/>
          <a:lstStyle/>
          <a:p>
            <a:pPr indent="0" marL="0">
              <a:buNone/>
            </a:pPr>
            <a:r>
              <a:rPr lang="en-US" altLang="en-US" sz="1700" dirty="0">
                <a:solidFill>
                  <a:srgbClr val="585660"/>
                </a:solidFill>
                <a:latin typeface="Aptos" pitchFamily="34" charset="0"/>
                <a:ea typeface="Aptos" pitchFamily="34" charset="-122"/>
                <a:cs typeface="Aptos" pitchFamily="34" charset="-120"/>
              </a:rPr>
              <a:t>Track active deals and deadlines.</a:t>
            </a:r>
            <a:endParaRPr lang="en-US" sz="1700" dirty="0"/>
          </a:p>
        </p:txBody>
      </p:sp>
      <p:sp>
        <p:nvSpPr>
          <p:cNvPr id="39" name="Shape 37"/>
          <p:cNvSpPr/>
          <p:nvPr/>
        </p:nvSpPr>
        <p:spPr>
          <a:xfrm>
            <a:off x="5120640" y="4791456"/>
            <a:ext cx="4389120" cy="713232"/>
          </a:xfrm>
          <a:prstGeom prst="roundRect">
            <a:avLst>
              <a:gd name="adj" fmla="val 11538"/>
            </a:avLst>
          </a:prstGeom>
          <a:solidFill>
            <a:srgbClr val="F0EFF2"/>
          </a:solidFill>
          <a:ln w="6985">
            <a:solidFill>
              <a:srgbClr val="DFDCE2"/>
            </a:solidFill>
            <a:prstDash val="solid"/>
          </a:ln>
        </p:spPr>
      </p:sp>
      <p:sp>
        <p:nvSpPr>
          <p:cNvPr id="40" name="Text 38"/>
          <p:cNvSpPr/>
          <p:nvPr/>
        </p:nvSpPr>
        <p:spPr>
          <a:xfrm>
            <a:off x="5294376" y="4855464"/>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idea-generation</a:t>
            </a:r>
            <a:endParaRPr lang="en-US" sz="2000" dirty="0"/>
          </a:p>
        </p:txBody>
      </p:sp>
      <p:sp>
        <p:nvSpPr>
          <p:cNvPr id="41" name="Text 39"/>
          <p:cNvSpPr/>
          <p:nvPr/>
        </p:nvSpPr>
        <p:spPr>
          <a:xfrm>
            <a:off x="5294376" y="5184648"/>
            <a:ext cx="4041648" cy="274320"/>
          </a:xfrm>
          <a:prstGeom prst="rect">
            <a:avLst/>
          </a:prstGeom>
          <a:noFill/>
          <a:ln/>
        </p:spPr>
        <p:txBody>
          <a:bodyPr wrap="square" lIns="0" tIns="0" rIns="0" bIns="0" rtlCol="0" anchor="ctr"/>
          <a:lstStyle/>
          <a:p>
            <a:pPr indent="0" marL="0">
              <a:buNone/>
            </a:pPr>
            <a:r>
              <a:rPr lang="en-US" altLang="en-US" sz="1700" dirty="0">
                <a:solidFill>
                  <a:srgbClr val="585660"/>
                </a:solidFill>
                <a:latin typeface="Aptos" pitchFamily="34" charset="0"/>
                <a:ea typeface="Aptos" pitchFamily="34" charset="-122"/>
                <a:cs typeface="Aptos" pitchFamily="34" charset="-120"/>
              </a:rPr>
              <a:t>Find and screen investment ideas.</a:t>
            </a:r>
            <a:endParaRPr lang="en-US" sz="1700" dirty="0"/>
          </a:p>
        </p:txBody>
      </p:sp>
      <p:sp>
        <p:nvSpPr>
          <p:cNvPr id="42" name="Shape 40"/>
          <p:cNvSpPr/>
          <p:nvPr/>
        </p:nvSpPr>
        <p:spPr>
          <a:xfrm>
            <a:off x="5120640" y="5586984"/>
            <a:ext cx="4389120" cy="713232"/>
          </a:xfrm>
          <a:prstGeom prst="roundRect">
            <a:avLst>
              <a:gd name="adj" fmla="val 11538"/>
            </a:avLst>
          </a:prstGeom>
          <a:solidFill>
            <a:srgbClr val="F0EFF2"/>
          </a:solidFill>
          <a:ln w="6985">
            <a:solidFill>
              <a:srgbClr val="DFDCE2"/>
            </a:solidFill>
            <a:prstDash val="solid"/>
          </a:ln>
        </p:spPr>
      </p:sp>
      <p:sp>
        <p:nvSpPr>
          <p:cNvPr id="43" name="Text 41"/>
          <p:cNvSpPr/>
          <p:nvPr/>
        </p:nvSpPr>
        <p:spPr>
          <a:xfrm>
            <a:off x="5294376" y="5650992"/>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lbo-model</a:t>
            </a:r>
            <a:endParaRPr lang="en-US" sz="2000" dirty="0"/>
          </a:p>
        </p:txBody>
      </p:sp>
      <p:sp>
        <p:nvSpPr>
          <p:cNvPr id="44" name="Text 42"/>
          <p:cNvSpPr/>
          <p:nvPr/>
        </p:nvSpPr>
        <p:spPr>
          <a:xfrm>
            <a:off x="5294376" y="5980176"/>
            <a:ext cx="4041648" cy="274320"/>
          </a:xfrm>
          <a:prstGeom prst="rect">
            <a:avLst/>
          </a:prstGeom>
          <a:noFill/>
          <a:ln/>
        </p:spPr>
        <p:txBody>
          <a:bodyPr wrap="square" lIns="0" tIns="0" rIns="0" bIns="0" rtlCol="0" anchor="ctr"/>
          <a:lstStyle/>
          <a:p>
            <a:pPr indent="0" marL="0">
              <a:buNone/>
            </a:pPr>
            <a:r>
              <a:rPr lang="en-US" altLang="en-US" sz="1700" dirty="0">
                <a:solidFill>
                  <a:srgbClr val="585660"/>
                </a:solidFill>
                <a:latin typeface="Aptos" pitchFamily="34" charset="0"/>
                <a:ea typeface="Aptos" pitchFamily="34" charset="-122"/>
                <a:cs typeface="Aptos" pitchFamily="34" charset="-120"/>
              </a:rPr>
              <a:t>Build leveraged-buyout models.</a:t>
            </a:r>
            <a:endParaRPr lang="en-US" sz="1700" dirty="0"/>
          </a:p>
        </p:txBody>
      </p:sp>
      <p:sp>
        <p:nvSpPr>
          <p:cNvPr id="45" name="Shape 43"/>
          <p:cNvSpPr/>
          <p:nvPr/>
        </p:nvSpPr>
        <p:spPr>
          <a:xfrm>
            <a:off x="5120640" y="6382512"/>
            <a:ext cx="4389120" cy="713232"/>
          </a:xfrm>
          <a:prstGeom prst="roundRect">
            <a:avLst>
              <a:gd name="adj" fmla="val 11538"/>
            </a:avLst>
          </a:prstGeom>
          <a:solidFill>
            <a:srgbClr val="F0EFF2"/>
          </a:solidFill>
          <a:ln w="6985">
            <a:solidFill>
              <a:srgbClr val="DFDCE2"/>
            </a:solidFill>
            <a:prstDash val="solid"/>
          </a:ln>
        </p:spPr>
      </p:sp>
      <p:sp>
        <p:nvSpPr>
          <p:cNvPr id="46" name="Text 44"/>
          <p:cNvSpPr/>
          <p:nvPr/>
        </p:nvSpPr>
        <p:spPr>
          <a:xfrm>
            <a:off x="5294376" y="6446520"/>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merger-model</a:t>
            </a:r>
            <a:endParaRPr lang="en-US" sz="2000" dirty="0"/>
          </a:p>
        </p:txBody>
      </p:sp>
      <p:sp>
        <p:nvSpPr>
          <p:cNvPr id="47" name="Text 45"/>
          <p:cNvSpPr/>
          <p:nvPr/>
        </p:nvSpPr>
        <p:spPr>
          <a:xfrm>
            <a:off x="5294376" y="6775704"/>
            <a:ext cx="4041648" cy="274320"/>
          </a:xfrm>
          <a:prstGeom prst="rect">
            <a:avLst/>
          </a:prstGeom>
          <a:noFill/>
          <a:ln/>
        </p:spPr>
        <p:txBody>
          <a:bodyPr wrap="square" lIns="0" tIns="0" rIns="0" bIns="0" rtlCol="0" anchor="ctr"/>
          <a:lstStyle/>
          <a:p>
            <a:pPr indent="0" marL="0">
              <a:buNone/>
            </a:pPr>
            <a:r>
              <a:rPr lang="en-US" altLang="en-US" sz="1700" dirty="0">
                <a:solidFill>
                  <a:srgbClr val="585660"/>
                </a:solidFill>
                <a:latin typeface="Aptos" pitchFamily="34" charset="0"/>
                <a:ea typeface="Aptos" pitchFamily="34" charset="-122"/>
                <a:cs typeface="Aptos" pitchFamily="34" charset="-120"/>
              </a:rPr>
              <a:t>Model M&amp;A accretion and dilution.</a:t>
            </a:r>
            <a:endParaRPr lang="en-US" sz="1700" dirty="0"/>
          </a:p>
        </p:txBody>
      </p:sp>
      <p:sp>
        <p:nvSpPr>
          <p:cNvPr id="48" name="Shape 46"/>
          <p:cNvSpPr/>
          <p:nvPr/>
        </p:nvSpPr>
        <p:spPr>
          <a:xfrm>
            <a:off x="9738360" y="1609344"/>
            <a:ext cx="4389120" cy="713232"/>
          </a:xfrm>
          <a:prstGeom prst="roundRect">
            <a:avLst>
              <a:gd name="adj" fmla="val 11538"/>
            </a:avLst>
          </a:prstGeom>
          <a:solidFill>
            <a:srgbClr val="F8E8ED"/>
          </a:solidFill>
          <a:ln w="6985">
            <a:solidFill>
              <a:srgbClr val="C78699"/>
            </a:solidFill>
            <a:prstDash val="solid"/>
          </a:ln>
        </p:spPr>
      </p:sp>
      <p:sp>
        <p:nvSpPr>
          <p:cNvPr id="49" name="Text 47"/>
          <p:cNvSpPr/>
          <p:nvPr/>
        </p:nvSpPr>
        <p:spPr>
          <a:xfrm>
            <a:off x="9912096" y="1673352"/>
            <a:ext cx="4041648" cy="320040"/>
          </a:xfrm>
          <a:prstGeom prst="rect">
            <a:avLst/>
          </a:prstGeom>
          <a:noFill/>
          <a:ln/>
        </p:spPr>
        <p:txBody>
          <a:bodyPr wrap="square" lIns="0" tIns="0" rIns="0" bIns="0" rtlCol="0" anchor="ctr"/>
          <a:lstStyle/>
          <a:p>
            <a:pPr indent="0" marL="0">
              <a:buNone/>
            </a:pPr>
            <a:r>
              <a:rPr lang="en-US" altLang="en-US" sz="2000" b="1" dirty="0">
                <a:solidFill>
                  <a:srgbClr val="94334F"/>
                </a:solidFill>
                <a:latin typeface="Aptos" pitchFamily="34" charset="0"/>
                <a:ea typeface="Aptos" pitchFamily="34" charset="-122"/>
                <a:cs typeface="Aptos" pitchFamily="34" charset="-120"/>
              </a:rPr>
              <a:t>model-update</a:t>
            </a:r>
            <a:endParaRPr lang="en-US" sz="2000" dirty="0"/>
          </a:p>
        </p:txBody>
      </p:sp>
      <p:sp>
        <p:nvSpPr>
          <p:cNvPr id="50" name="Text 48"/>
          <p:cNvSpPr/>
          <p:nvPr/>
        </p:nvSpPr>
        <p:spPr>
          <a:xfrm>
            <a:off x="9912096" y="2002536"/>
            <a:ext cx="4041648" cy="274320"/>
          </a:xfrm>
          <a:prstGeom prst="rect">
            <a:avLst/>
          </a:prstGeom>
          <a:noFill/>
          <a:ln/>
        </p:spPr>
        <p:txBody>
          <a:bodyPr wrap="square" lIns="0" tIns="0" rIns="0" bIns="0" rtlCol="0" anchor="ctr"/>
          <a:lstStyle/>
          <a:p>
            <a:pPr indent="0" marL="0">
              <a:buNone/>
            </a:pPr>
            <a:r>
              <a:rPr lang="en-US" altLang="en-US" sz="1700" dirty="0">
                <a:solidFill>
                  <a:srgbClr val="94334F"/>
                </a:solidFill>
                <a:latin typeface="Aptos" pitchFamily="34" charset="0"/>
                <a:ea typeface="Aptos" pitchFamily="34" charset="-122"/>
                <a:cs typeface="Aptos" pitchFamily="34" charset="-120"/>
              </a:rPr>
              <a:t>Update models with new data.</a:t>
            </a:r>
            <a:endParaRPr lang="en-US" sz="1700" dirty="0"/>
          </a:p>
        </p:txBody>
      </p:sp>
      <p:sp>
        <p:nvSpPr>
          <p:cNvPr id="51" name="Shape 49"/>
          <p:cNvSpPr/>
          <p:nvPr/>
        </p:nvSpPr>
        <p:spPr>
          <a:xfrm>
            <a:off x="9738360" y="2404872"/>
            <a:ext cx="4389120" cy="713232"/>
          </a:xfrm>
          <a:prstGeom prst="roundRect">
            <a:avLst>
              <a:gd name="adj" fmla="val 11538"/>
            </a:avLst>
          </a:prstGeom>
          <a:solidFill>
            <a:srgbClr val="F0EFF2"/>
          </a:solidFill>
          <a:ln w="6985">
            <a:solidFill>
              <a:srgbClr val="DFDCE2"/>
            </a:solidFill>
            <a:prstDash val="solid"/>
          </a:ln>
        </p:spPr>
      </p:sp>
      <p:sp>
        <p:nvSpPr>
          <p:cNvPr id="52" name="Text 50"/>
          <p:cNvSpPr/>
          <p:nvPr/>
        </p:nvSpPr>
        <p:spPr>
          <a:xfrm>
            <a:off x="9912096" y="2468880"/>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portfolio-monitoring</a:t>
            </a:r>
            <a:endParaRPr lang="en-US" sz="2000" dirty="0"/>
          </a:p>
        </p:txBody>
      </p:sp>
      <p:sp>
        <p:nvSpPr>
          <p:cNvPr id="53" name="Text 51"/>
          <p:cNvSpPr/>
          <p:nvPr/>
        </p:nvSpPr>
        <p:spPr>
          <a:xfrm>
            <a:off x="9912096" y="2798064"/>
            <a:ext cx="4041648" cy="274320"/>
          </a:xfrm>
          <a:prstGeom prst="rect">
            <a:avLst/>
          </a:prstGeom>
          <a:noFill/>
          <a:ln/>
        </p:spPr>
        <p:txBody>
          <a:bodyPr wrap="square" lIns="0" tIns="0" rIns="0" bIns="0" rtlCol="0" anchor="ctr"/>
          <a:lstStyle/>
          <a:p>
            <a:pPr indent="0" marL="0">
              <a:buNone/>
            </a:pPr>
            <a:r>
              <a:rPr lang="en-US" altLang="en-US" sz="1700" dirty="0">
                <a:solidFill>
                  <a:srgbClr val="585660"/>
                </a:solidFill>
                <a:latin typeface="Aptos" pitchFamily="34" charset="0"/>
                <a:ea typeface="Aptos" pitchFamily="34" charset="-122"/>
                <a:cs typeface="Aptos" pitchFamily="34" charset="-120"/>
              </a:rPr>
              <a:t>Monitor portfolio performance.</a:t>
            </a:r>
            <a:endParaRPr lang="en-US" sz="1700" dirty="0"/>
          </a:p>
        </p:txBody>
      </p:sp>
      <p:sp>
        <p:nvSpPr>
          <p:cNvPr id="54" name="Shape 52"/>
          <p:cNvSpPr/>
          <p:nvPr/>
        </p:nvSpPr>
        <p:spPr>
          <a:xfrm>
            <a:off x="9738360" y="3200400"/>
            <a:ext cx="4389120" cy="713232"/>
          </a:xfrm>
          <a:prstGeom prst="roundRect">
            <a:avLst>
              <a:gd name="adj" fmla="val 11538"/>
            </a:avLst>
          </a:prstGeom>
          <a:solidFill>
            <a:srgbClr val="F0EFF2"/>
          </a:solidFill>
          <a:ln w="6985">
            <a:solidFill>
              <a:srgbClr val="DFDCE2"/>
            </a:solidFill>
            <a:prstDash val="solid"/>
          </a:ln>
        </p:spPr>
      </p:sp>
      <p:sp>
        <p:nvSpPr>
          <p:cNvPr id="55" name="Text 53"/>
          <p:cNvSpPr/>
          <p:nvPr/>
        </p:nvSpPr>
        <p:spPr>
          <a:xfrm>
            <a:off x="9912096" y="3264408"/>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portfolio-rebalance</a:t>
            </a:r>
            <a:endParaRPr lang="en-US" sz="2000" dirty="0"/>
          </a:p>
        </p:txBody>
      </p:sp>
      <p:sp>
        <p:nvSpPr>
          <p:cNvPr id="56" name="Text 54"/>
          <p:cNvSpPr/>
          <p:nvPr/>
        </p:nvSpPr>
        <p:spPr>
          <a:xfrm>
            <a:off x="9912096" y="3593592"/>
            <a:ext cx="4041648" cy="274320"/>
          </a:xfrm>
          <a:prstGeom prst="rect">
            <a:avLst/>
          </a:prstGeom>
          <a:noFill/>
          <a:ln/>
        </p:spPr>
        <p:txBody>
          <a:bodyPr wrap="square" lIns="0" tIns="0" rIns="0" bIns="0" rtlCol="0" anchor="ctr"/>
          <a:lstStyle/>
          <a:p>
            <a:pPr indent="0" marL="0">
              <a:buNone/>
            </a:pPr>
            <a:r>
              <a:rPr lang="en-US" altLang="en-US" sz="1700" dirty="0">
                <a:solidFill>
                  <a:srgbClr val="585660"/>
                </a:solidFill>
                <a:latin typeface="Aptos" pitchFamily="34" charset="0"/>
                <a:ea typeface="Aptos" pitchFamily="34" charset="-122"/>
                <a:cs typeface="Aptos" pitchFamily="34" charset="-120"/>
              </a:rPr>
              <a:t>Generate rebalancing trade proposals.</a:t>
            </a:r>
            <a:endParaRPr lang="en-US" sz="1700" dirty="0"/>
          </a:p>
        </p:txBody>
      </p:sp>
      <p:sp>
        <p:nvSpPr>
          <p:cNvPr id="57" name="Shape 55"/>
          <p:cNvSpPr/>
          <p:nvPr/>
        </p:nvSpPr>
        <p:spPr>
          <a:xfrm>
            <a:off x="9738360" y="3995928"/>
            <a:ext cx="4389120" cy="713232"/>
          </a:xfrm>
          <a:prstGeom prst="roundRect">
            <a:avLst>
              <a:gd name="adj" fmla="val 11538"/>
            </a:avLst>
          </a:prstGeom>
          <a:solidFill>
            <a:srgbClr val="F0EFF2"/>
          </a:solidFill>
          <a:ln w="6985">
            <a:solidFill>
              <a:srgbClr val="DFDCE2"/>
            </a:solidFill>
            <a:prstDash val="solid"/>
          </a:ln>
        </p:spPr>
      </p:sp>
      <p:sp>
        <p:nvSpPr>
          <p:cNvPr id="58" name="Text 56"/>
          <p:cNvSpPr/>
          <p:nvPr/>
        </p:nvSpPr>
        <p:spPr>
          <a:xfrm>
            <a:off x="9912096" y="4059936"/>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returns-analysis</a:t>
            </a:r>
            <a:endParaRPr lang="en-US" sz="2000" dirty="0"/>
          </a:p>
        </p:txBody>
      </p:sp>
      <p:sp>
        <p:nvSpPr>
          <p:cNvPr id="59" name="Text 57"/>
          <p:cNvSpPr/>
          <p:nvPr/>
        </p:nvSpPr>
        <p:spPr>
          <a:xfrm>
            <a:off x="9912096" y="4389120"/>
            <a:ext cx="4041648" cy="274320"/>
          </a:xfrm>
          <a:prstGeom prst="rect">
            <a:avLst/>
          </a:prstGeom>
          <a:noFill/>
          <a:ln/>
        </p:spPr>
        <p:txBody>
          <a:bodyPr wrap="square" lIns="0" tIns="0" rIns="0" bIns="0" rtlCol="0" anchor="ctr"/>
          <a:lstStyle/>
          <a:p>
            <a:pPr indent="0" marL="0">
              <a:buNone/>
            </a:pPr>
            <a:r>
              <a:rPr lang="en-US" altLang="en-US" sz="1700" dirty="0">
                <a:solidFill>
                  <a:srgbClr val="585660"/>
                </a:solidFill>
                <a:latin typeface="Aptos" pitchFamily="34" charset="0"/>
                <a:ea typeface="Aptos" pitchFamily="34" charset="-122"/>
                <a:cs typeface="Aptos" pitchFamily="34" charset="-120"/>
              </a:rPr>
              <a:t>Build IRR and MOIC sensitivity tables.</a:t>
            </a:r>
            <a:endParaRPr lang="en-US" sz="1700" dirty="0"/>
          </a:p>
        </p:txBody>
      </p:sp>
      <p:sp>
        <p:nvSpPr>
          <p:cNvPr id="60" name="Shape 58"/>
          <p:cNvSpPr/>
          <p:nvPr/>
        </p:nvSpPr>
        <p:spPr>
          <a:xfrm>
            <a:off x="9738360" y="4791456"/>
            <a:ext cx="4389120" cy="713232"/>
          </a:xfrm>
          <a:prstGeom prst="roundRect">
            <a:avLst>
              <a:gd name="adj" fmla="val 11538"/>
            </a:avLst>
          </a:prstGeom>
          <a:solidFill>
            <a:srgbClr val="F0EFF2"/>
          </a:solidFill>
          <a:ln w="6985">
            <a:solidFill>
              <a:srgbClr val="DFDCE2"/>
            </a:solidFill>
            <a:prstDash val="solid"/>
          </a:ln>
        </p:spPr>
      </p:sp>
      <p:sp>
        <p:nvSpPr>
          <p:cNvPr id="61" name="Text 59"/>
          <p:cNvSpPr/>
          <p:nvPr/>
        </p:nvSpPr>
        <p:spPr>
          <a:xfrm>
            <a:off x="9912096" y="4855464"/>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tax-loss-harvesting</a:t>
            </a:r>
            <a:endParaRPr lang="en-US" sz="2000" dirty="0"/>
          </a:p>
        </p:txBody>
      </p:sp>
      <p:sp>
        <p:nvSpPr>
          <p:cNvPr id="62" name="Text 60"/>
          <p:cNvSpPr/>
          <p:nvPr/>
        </p:nvSpPr>
        <p:spPr>
          <a:xfrm>
            <a:off x="9912096" y="5184648"/>
            <a:ext cx="4041648" cy="274320"/>
          </a:xfrm>
          <a:prstGeom prst="rect">
            <a:avLst/>
          </a:prstGeom>
          <a:noFill/>
          <a:ln/>
        </p:spPr>
        <p:txBody>
          <a:bodyPr wrap="square" lIns="0" tIns="0" rIns="0" bIns="0" rtlCol="0" anchor="ctr"/>
          <a:lstStyle/>
          <a:p>
            <a:pPr indent="0" marL="0">
              <a:buNone/>
            </a:pPr>
            <a:r>
              <a:rPr lang="en-US" altLang="en-US" sz="1700" dirty="0">
                <a:solidFill>
                  <a:srgbClr val="585660"/>
                </a:solidFill>
                <a:latin typeface="Aptos" pitchFamily="34" charset="0"/>
                <a:ea typeface="Aptos" pitchFamily="34" charset="-122"/>
                <a:cs typeface="Aptos" pitchFamily="34" charset="-120"/>
              </a:rPr>
              <a:t>Identify tax-loss-harvesting options.</a:t>
            </a:r>
            <a:endParaRPr lang="en-US" sz="1700" dirty="0"/>
          </a:p>
        </p:txBody>
      </p:sp>
      <p:sp>
        <p:nvSpPr>
          <p:cNvPr id="63" name="Shape 61"/>
          <p:cNvSpPr/>
          <p:nvPr/>
        </p:nvSpPr>
        <p:spPr>
          <a:xfrm>
            <a:off x="9738360" y="5586984"/>
            <a:ext cx="4389120" cy="713232"/>
          </a:xfrm>
          <a:prstGeom prst="roundRect">
            <a:avLst>
              <a:gd name="adj" fmla="val 11538"/>
            </a:avLst>
          </a:prstGeom>
          <a:solidFill>
            <a:srgbClr val="F0EFF2"/>
          </a:solidFill>
          <a:ln w="6985">
            <a:solidFill>
              <a:srgbClr val="DFDCE2"/>
            </a:solidFill>
            <a:prstDash val="solid"/>
          </a:ln>
        </p:spPr>
      </p:sp>
      <p:sp>
        <p:nvSpPr>
          <p:cNvPr id="64" name="Text 62"/>
          <p:cNvSpPr/>
          <p:nvPr/>
        </p:nvSpPr>
        <p:spPr>
          <a:xfrm>
            <a:off x="9912096" y="5650992"/>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thesis-tracker</a:t>
            </a:r>
            <a:endParaRPr lang="en-US" sz="2000" dirty="0"/>
          </a:p>
        </p:txBody>
      </p:sp>
      <p:sp>
        <p:nvSpPr>
          <p:cNvPr id="65" name="Text 63"/>
          <p:cNvSpPr/>
          <p:nvPr/>
        </p:nvSpPr>
        <p:spPr>
          <a:xfrm>
            <a:off x="9912096" y="5980176"/>
            <a:ext cx="4041648" cy="274320"/>
          </a:xfrm>
          <a:prstGeom prst="rect">
            <a:avLst/>
          </a:prstGeom>
          <a:noFill/>
          <a:ln/>
        </p:spPr>
        <p:txBody>
          <a:bodyPr wrap="square" lIns="0" tIns="0" rIns="0" bIns="0" rtlCol="0" anchor="ctr"/>
          <a:lstStyle/>
          <a:p>
            <a:pPr indent="0" marL="0">
              <a:buNone/>
            </a:pPr>
            <a:r>
              <a:rPr lang="en-US" altLang="en-US" sz="1700" dirty="0">
                <a:solidFill>
                  <a:srgbClr val="585660"/>
                </a:solidFill>
                <a:latin typeface="Aptos" pitchFamily="34" charset="0"/>
                <a:ea typeface="Aptos" pitchFamily="34" charset="-122"/>
                <a:cs typeface="Aptos" pitchFamily="34" charset="-120"/>
              </a:rPr>
              <a:t>Track an investment thesis.</a:t>
            </a:r>
            <a:endParaRPr lang="en-US" sz="1700" dirty="0"/>
          </a:p>
        </p:txBody>
      </p:sp>
      <p:sp>
        <p:nvSpPr>
          <p:cNvPr id="66" name="Shape 64"/>
          <p:cNvSpPr/>
          <p:nvPr/>
        </p:nvSpPr>
        <p:spPr>
          <a:xfrm>
            <a:off x="9738360" y="6382512"/>
            <a:ext cx="4389120" cy="713232"/>
          </a:xfrm>
          <a:prstGeom prst="roundRect">
            <a:avLst>
              <a:gd name="adj" fmla="val 11538"/>
            </a:avLst>
          </a:prstGeom>
          <a:solidFill>
            <a:srgbClr val="F0EFF2"/>
          </a:solidFill>
          <a:ln w="6985">
            <a:solidFill>
              <a:srgbClr val="DFDCE2"/>
            </a:solidFill>
            <a:prstDash val="solid"/>
          </a:ln>
        </p:spPr>
      </p:sp>
      <p:sp>
        <p:nvSpPr>
          <p:cNvPr id="67" name="Text 65"/>
          <p:cNvSpPr/>
          <p:nvPr/>
        </p:nvSpPr>
        <p:spPr>
          <a:xfrm>
            <a:off x="9912096" y="6446520"/>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unit-economics</a:t>
            </a:r>
            <a:endParaRPr lang="en-US" sz="2000" dirty="0"/>
          </a:p>
        </p:txBody>
      </p:sp>
      <p:sp>
        <p:nvSpPr>
          <p:cNvPr id="68" name="Text 66"/>
          <p:cNvSpPr/>
          <p:nvPr/>
        </p:nvSpPr>
        <p:spPr>
          <a:xfrm>
            <a:off x="9912096" y="6775704"/>
            <a:ext cx="4041648" cy="274320"/>
          </a:xfrm>
          <a:prstGeom prst="rect">
            <a:avLst/>
          </a:prstGeom>
          <a:noFill/>
          <a:ln/>
        </p:spPr>
        <p:txBody>
          <a:bodyPr wrap="square" lIns="0" tIns="0" rIns="0" bIns="0" rtlCol="0" anchor="ctr"/>
          <a:lstStyle/>
          <a:p>
            <a:pPr indent="0" marL="0">
              <a:buNone/>
            </a:pPr>
            <a:r>
              <a:rPr lang="en-US" altLang="en-US" sz="1700" dirty="0">
                <a:solidFill>
                  <a:srgbClr val="585660"/>
                </a:solidFill>
                <a:latin typeface="Aptos" pitchFamily="34" charset="0"/>
                <a:ea typeface="Aptos" pitchFamily="34" charset="-122"/>
                <a:cs typeface="Aptos" pitchFamily="34" charset="-120"/>
              </a:rPr>
              <a:t>Analyze SaaS unit economics.</a:t>
            </a:r>
            <a:endParaRPr lang="en-US" sz="1700" dirty="0"/>
          </a:p>
        </p:txBody>
      </p:sp>
      <p:sp>
        <p:nvSpPr>
          <p:cNvPr id="69" name="Text 67"/>
          <p:cNvSpPr/>
          <p:nvPr/>
        </p:nvSpPr>
        <p:spPr>
          <a:xfrm>
            <a:off x="521208" y="7388352"/>
            <a:ext cx="13587984" cy="246888"/>
          </a:xfrm>
          <a:prstGeom prst="rect">
            <a:avLst/>
          </a:prstGeom>
          <a:noFill/>
          <a:ln/>
        </p:spPr>
        <p:txBody>
          <a:bodyPr wrap="square" lIns="0" tIns="0" rIns="0" bIns="0" rtlCol="0" anchor="ctr"/>
          <a:lstStyle/>
          <a:p>
            <a:pPr indent="0" marL="0">
              <a:buNone/>
            </a:pPr>
            <a:r>
              <a:rPr lang="en-US" altLang="en-US" sz="1450" dirty="0">
                <a:solidFill>
                  <a:srgbClr val="585660"/>
                </a:solidFill>
                <a:latin typeface="Aptos" pitchFamily="34" charset="0"/>
                <a:ea typeface="Aptos" pitchFamily="34" charset="-122"/>
                <a:cs typeface="Aptos" pitchFamily="34" charset="-120"/>
              </a:rPr>
              <a:t>Availability depends on tenant and configuration. This reference is not a live or universal catalog.</a:t>
            </a:r>
            <a:endParaRPr lang="en-US" sz="1450" dirty="0"/>
          </a:p>
        </p:txBody>
      </p:sp>
      <p:sp>
        <p:nvSpPr>
          <p:cNvPr id="70" name="Text 68"/>
          <p:cNvSpPr/>
          <p:nvPr/>
        </p:nvSpPr>
        <p:spPr>
          <a:xfrm>
            <a:off x="521208" y="7680960"/>
            <a:ext cx="13587984" cy="228600"/>
          </a:xfrm>
          <a:prstGeom prst="rect">
            <a:avLst/>
          </a:prstGeom>
          <a:noFill/>
          <a:ln/>
        </p:spPr>
        <p:txBody>
          <a:bodyPr wrap="square" lIns="0" tIns="0" rIns="0" bIns="0" rtlCol="0" anchor="ctr"/>
          <a:lstStyle/>
          <a:p>
            <a:pPr indent="0" marL="0">
              <a:buNone/>
            </a:pPr>
            <a:r>
              <a:rPr lang="en-US" altLang="en-US" sz="1400" dirty="0">
                <a:solidFill>
                  <a:srgbClr val="585660"/>
                </a:solidFill>
                <a:latin typeface="Aptos" pitchFamily="34" charset="0"/>
                <a:ea typeface="Aptos" pitchFamily="34" charset="-122"/>
                <a:cs typeface="Aptos" pitchFamily="34" charset="-120"/>
              </a:rPr>
              <a:t>“Variance analysis” is task wording, not an assumed enabled skill.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21 Excel Finance skills</dc:title>
  <dc:subject>Customer screenshot reference: Finance skills in Excel</dc:subject>
  <dc:creator>Microsoft Scout</dc:creator>
  <cp:lastModifiedBy>Microsoft Scout</cp:lastModifiedBy>
  <cp:revision>1</cp:revision>
  <dcterms:created xsi:type="dcterms:W3CDTF">2026-09-10T15:45:37Z</dcterms:created>
  <dcterms:modified xsi:type="dcterms:W3CDTF">2026-09-10T15:45:37Z</dcterms:modified>
</cp:coreProperties>
</file>