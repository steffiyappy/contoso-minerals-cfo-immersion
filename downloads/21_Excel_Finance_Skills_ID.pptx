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4630400" cy="8229600"/>
  <p:notesSz cx="8229600" cy="14630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AND SCOPE
Source: Scout session 1ec7073b-ad28-425a-90bb-08f619bddc20, "Bahasa Copilot Demo for Agriculture", heading "Finance · 21 skills".
Retrieved 2026-09-10. Reconstructed all 21 rows from m_search_sessions snippets around exact skill names in the prior answer. That answer transcribed the customer-provided screenshots. Screenshot images were not re-read during this build; this is not a live availability check.
All 21 names and original purposes were verified through exact-name session search snippets; see skills.json for the row-level retrieval keys and original purpose wording.
The wider list of 41 skills observed in the user tenant is not being represented as the customer baseline. No custom skill names were added.
EDITORIAL NOTES
Skill names are unchanged. Descriptions are condensed and localized.
Rose indicates the three demo focus skills: check-model, model-update, datapack-builder. Highlighting is not a prescribed runtime execution order.
The portfolio-rebalance description uses "trade proposals" to avoid implying automatic trade execution.
unit-economics concerns SaaS economics in the source; it is not described as a mining cost-analysis skill.
DEMO TASK WORDING
Requested uses include variance analysis, monthly management report drafting, financial commentary summaries, model analysis, and explaining actual-versus-budget movements.
These are tasks, not assertions that named skills with those labels are enabled.
Select and validate the relevant available skill; specifying multiple @mentions does not establish or guarantee runtime chaining.
No real customer financial values or private operational data are included.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BFAFB"/>
        </a:solidFill>
      </p:bgPr>
    </p:bg>
    <p:spTree>
      <p:nvGrpSpPr>
        <p:cNvPr id="1" name=""/>
        <p:cNvGrpSpPr/>
        <p:nvPr/>
      </p:nvGrpSpPr>
      <p:grpSpPr>
        <a:xfrm>
          <a:off x="0" y="0"/>
          <a:ext cx="0" cy="0"/>
          <a:chOff x="0" y="0"/>
          <a:chExt cx="0" cy="0"/>
        </a:xfrm>
      </p:grpSpPr>
      <p:sp>
        <p:nvSpPr>
          <p:cNvPr id="2" name="Text 0"/>
          <p:cNvSpPr/>
          <p:nvPr/>
        </p:nvSpPr>
        <p:spPr>
          <a:xfrm>
            <a:off x="502920" y="384048"/>
            <a:ext cx="11247120" cy="585216"/>
          </a:xfrm>
          <a:prstGeom prst="rect">
            <a:avLst/>
          </a:prstGeom>
          <a:noFill/>
          <a:ln/>
        </p:spPr>
        <p:txBody>
          <a:bodyPr wrap="square" lIns="0" tIns="0" rIns="0" bIns="0" rtlCol="0" anchor="ctr"/>
          <a:lstStyle/>
          <a:p>
            <a:pPr indent="0" marL="0">
              <a:buNone/>
            </a:pPr>
            <a:r>
              <a:rPr lang="id-ID" altLang="en-US" sz="3800" b="1" dirty="0">
                <a:solidFill>
                  <a:srgbClr val="29272E"/>
                </a:solidFill>
                <a:latin typeface="Aptos Display" pitchFamily="34" charset="0"/>
                <a:ea typeface="Aptos Display" pitchFamily="34" charset="-122"/>
                <a:cs typeface="Aptos Display" pitchFamily="34" charset="-120"/>
              </a:rPr>
              <a:t>21 skill Finance di Excel</a:t>
            </a:r>
            <a:endParaRPr lang="id-ID" sz="3800" dirty="0"/>
          </a:p>
        </p:txBody>
      </p:sp>
      <p:sp>
        <p:nvSpPr>
          <p:cNvPr id="3" name="Text 1"/>
          <p:cNvSpPr/>
          <p:nvPr/>
        </p:nvSpPr>
        <p:spPr>
          <a:xfrm>
            <a:off x="521208" y="1024128"/>
            <a:ext cx="11338560" cy="310896"/>
          </a:xfrm>
          <a:prstGeom prst="rect">
            <a:avLst/>
          </a:prstGeom>
          <a:noFill/>
          <a:ln/>
        </p:spPr>
        <p:txBody>
          <a:bodyPr wrap="square" lIns="0" tIns="0" rIns="0" bIns="0" rtlCol="0" anchor="ctr"/>
          <a:lstStyle/>
          <a:p>
            <a:pPr indent="0" marL="0">
              <a:buNone/>
            </a:pPr>
            <a:r>
              <a:rPr lang="id-ID" altLang="en-US" sz="1800" dirty="0">
                <a:solidFill>
                  <a:srgbClr val="585660"/>
                </a:solidFill>
                <a:latin typeface="Aptos" pitchFamily="34" charset="0"/>
                <a:ea typeface="Aptos" pitchFamily="34" charset="-122"/>
                <a:cs typeface="Aptos" pitchFamily="34" charset="-120"/>
              </a:rPr>
              <a:t>Kegunaan setiap skill — rujukan tangkapan layar pelanggan</a:t>
            </a:r>
            <a:endParaRPr lang="id-ID" sz="1800" dirty="0"/>
          </a:p>
        </p:txBody>
      </p:sp>
      <p:sp>
        <p:nvSpPr>
          <p:cNvPr id="4" name="Shape 2"/>
          <p:cNvSpPr/>
          <p:nvPr/>
        </p:nvSpPr>
        <p:spPr>
          <a:xfrm>
            <a:off x="12280392" y="667512"/>
            <a:ext cx="1847088" cy="448056"/>
          </a:xfrm>
          <a:prstGeom prst="roundRect">
            <a:avLst>
              <a:gd name="adj" fmla="val 24490"/>
            </a:avLst>
          </a:prstGeom>
          <a:solidFill>
            <a:srgbClr val="F8E8ED"/>
          </a:solidFill>
          <a:ln w="10160">
            <a:solidFill>
              <a:srgbClr val="C78699"/>
            </a:solidFill>
            <a:prstDash val="solid"/>
          </a:ln>
        </p:spPr>
      </p:sp>
      <p:sp>
        <p:nvSpPr>
          <p:cNvPr id="5" name="Text 3"/>
          <p:cNvSpPr/>
          <p:nvPr/>
        </p:nvSpPr>
        <p:spPr>
          <a:xfrm>
            <a:off x="12399264" y="717804"/>
            <a:ext cx="1609344" cy="310896"/>
          </a:xfrm>
          <a:prstGeom prst="rect">
            <a:avLst/>
          </a:prstGeom>
          <a:noFill/>
          <a:ln/>
        </p:spPr>
        <p:txBody>
          <a:bodyPr wrap="square" lIns="0" tIns="0" rIns="0" bIns="0" rtlCol="0" anchor="ctr"/>
          <a:lstStyle/>
          <a:p>
            <a:pPr algn="ctr" indent="0" marL="0">
              <a:buNone/>
            </a:pPr>
            <a:r>
              <a:rPr lang="id-ID" altLang="en-US" sz="1700" b="1" dirty="0">
                <a:solidFill>
                  <a:srgbClr val="94334F"/>
                </a:solidFill>
                <a:latin typeface="Aptos" pitchFamily="34" charset="0"/>
                <a:ea typeface="Aptos" pitchFamily="34" charset="-122"/>
                <a:cs typeface="Aptos" pitchFamily="34" charset="-120"/>
              </a:rPr>
              <a:t>Fokus demo</a:t>
            </a:r>
            <a:endParaRPr lang="id-ID" sz="1700" dirty="0"/>
          </a:p>
        </p:txBody>
      </p:sp>
      <p:sp>
        <p:nvSpPr>
          <p:cNvPr id="6" name="Shape 4"/>
          <p:cNvSpPr/>
          <p:nvPr/>
        </p:nvSpPr>
        <p:spPr>
          <a:xfrm>
            <a:off x="502920" y="1609344"/>
            <a:ext cx="4389120" cy="713232"/>
          </a:xfrm>
          <a:prstGeom prst="roundRect">
            <a:avLst>
              <a:gd name="adj" fmla="val 11538"/>
            </a:avLst>
          </a:prstGeom>
          <a:solidFill>
            <a:srgbClr val="F0EFF2"/>
          </a:solidFill>
          <a:ln w="6985">
            <a:solidFill>
              <a:srgbClr val="DFDCE2"/>
            </a:solidFill>
            <a:prstDash val="solid"/>
          </a:ln>
        </p:spPr>
      </p:sp>
      <p:sp>
        <p:nvSpPr>
          <p:cNvPr id="7" name="Text 5"/>
          <p:cNvSpPr/>
          <p:nvPr/>
        </p:nvSpPr>
        <p:spPr>
          <a:xfrm>
            <a:off x="676656" y="1673352"/>
            <a:ext cx="4041648" cy="320040"/>
          </a:xfrm>
          <a:prstGeom prst="rect">
            <a:avLst/>
          </a:prstGeom>
          <a:noFill/>
          <a:ln/>
        </p:spPr>
        <p:txBody>
          <a:bodyPr wrap="square" lIns="0" tIns="0" rIns="0" bIns="0" rtlCol="0" anchor="ctr"/>
          <a:lstStyle/>
          <a:p>
            <a:pPr indent="0" marL="0">
              <a:buNone/>
            </a:pPr>
            <a:r>
              <a:rPr lang="en-US" altLang="en-US" sz="2000" b="1" dirty="0">
                <a:solidFill>
                  <a:srgbClr val="3E3C43"/>
                </a:solidFill>
                <a:latin typeface="Aptos" pitchFamily="34" charset="0"/>
                <a:ea typeface="Aptos" pitchFamily="34" charset="-122"/>
                <a:cs typeface="Aptos" pitchFamily="34" charset="-120"/>
              </a:rPr>
              <a:t>3-statements</a:t>
            </a:r>
            <a:endParaRPr lang="en-US" sz="2000" dirty="0"/>
          </a:p>
        </p:txBody>
      </p:sp>
      <p:sp>
        <p:nvSpPr>
          <p:cNvPr id="8" name="Text 6"/>
          <p:cNvSpPr/>
          <p:nvPr/>
        </p:nvSpPr>
        <p:spPr>
          <a:xfrm>
            <a:off x="676656" y="2002536"/>
            <a:ext cx="4041648" cy="274320"/>
          </a:xfrm>
          <a:prstGeom prst="rect">
            <a:avLst/>
          </a:prstGeom>
          <a:noFill/>
          <a:ln/>
        </p:spPr>
        <p:txBody>
          <a:bodyPr wrap="square" lIns="0" tIns="0" rIns="0" bIns="0" rtlCol="0" anchor="ctr"/>
          <a:lstStyle/>
          <a:p>
            <a:pPr indent="0" marL="0">
              <a:buNone/>
            </a:pPr>
            <a:r>
              <a:rPr lang="id-ID" altLang="en-US" sz="1700" dirty="0">
                <a:solidFill>
                  <a:srgbClr val="585660"/>
                </a:solidFill>
                <a:latin typeface="Aptos" pitchFamily="34" charset="0"/>
                <a:ea typeface="Aptos" pitchFamily="34" charset="-122"/>
                <a:cs typeface="Aptos" pitchFamily="34" charset="-120"/>
              </a:rPr>
              <a:t>Menyusun model tiga laporan keuangan.</a:t>
            </a:r>
            <a:endParaRPr lang="id-ID" sz="1700" dirty="0"/>
          </a:p>
        </p:txBody>
      </p:sp>
      <p:sp>
        <p:nvSpPr>
          <p:cNvPr id="9" name="Shape 7"/>
          <p:cNvSpPr/>
          <p:nvPr/>
        </p:nvSpPr>
        <p:spPr>
          <a:xfrm>
            <a:off x="502920" y="2404872"/>
            <a:ext cx="4389120" cy="713232"/>
          </a:xfrm>
          <a:prstGeom prst="roundRect">
            <a:avLst>
              <a:gd name="adj" fmla="val 11538"/>
            </a:avLst>
          </a:prstGeom>
          <a:solidFill>
            <a:srgbClr val="F0EFF2"/>
          </a:solidFill>
          <a:ln w="6985">
            <a:solidFill>
              <a:srgbClr val="DFDCE2"/>
            </a:solidFill>
            <a:prstDash val="solid"/>
          </a:ln>
        </p:spPr>
      </p:sp>
      <p:sp>
        <p:nvSpPr>
          <p:cNvPr id="10" name="Text 8"/>
          <p:cNvSpPr/>
          <p:nvPr/>
        </p:nvSpPr>
        <p:spPr>
          <a:xfrm>
            <a:off x="676656" y="2468880"/>
            <a:ext cx="4041648" cy="320040"/>
          </a:xfrm>
          <a:prstGeom prst="rect">
            <a:avLst/>
          </a:prstGeom>
          <a:noFill/>
          <a:ln/>
        </p:spPr>
        <p:txBody>
          <a:bodyPr wrap="square" lIns="0" tIns="0" rIns="0" bIns="0" rtlCol="0" anchor="ctr"/>
          <a:lstStyle/>
          <a:p>
            <a:pPr indent="0" marL="0">
              <a:buNone/>
            </a:pPr>
            <a:r>
              <a:rPr lang="en-US" altLang="en-US" sz="2000" b="1" dirty="0">
                <a:solidFill>
                  <a:srgbClr val="3E3C43"/>
                </a:solidFill>
                <a:latin typeface="Aptos" pitchFamily="34" charset="0"/>
                <a:ea typeface="Aptos" pitchFamily="34" charset="-122"/>
                <a:cs typeface="Aptos" pitchFamily="34" charset="-120"/>
              </a:rPr>
              <a:t>buyer-list</a:t>
            </a:r>
            <a:endParaRPr lang="en-US" sz="2000" dirty="0"/>
          </a:p>
        </p:txBody>
      </p:sp>
      <p:sp>
        <p:nvSpPr>
          <p:cNvPr id="11" name="Text 9"/>
          <p:cNvSpPr/>
          <p:nvPr/>
        </p:nvSpPr>
        <p:spPr>
          <a:xfrm>
            <a:off x="676656" y="2798064"/>
            <a:ext cx="4041648" cy="274320"/>
          </a:xfrm>
          <a:prstGeom prst="rect">
            <a:avLst/>
          </a:prstGeom>
          <a:noFill/>
          <a:ln/>
        </p:spPr>
        <p:txBody>
          <a:bodyPr wrap="square" lIns="0" tIns="0" rIns="0" bIns="0" rtlCol="0" anchor="ctr"/>
          <a:lstStyle/>
          <a:p>
            <a:pPr indent="0" marL="0">
              <a:buNone/>
            </a:pPr>
            <a:r>
              <a:rPr lang="id-ID" altLang="en-US" sz="1700" dirty="0">
                <a:solidFill>
                  <a:srgbClr val="585660"/>
                </a:solidFill>
                <a:latin typeface="Aptos" pitchFamily="34" charset="0"/>
                <a:ea typeface="Aptos" pitchFamily="34" charset="-122"/>
                <a:cs typeface="Aptos" pitchFamily="34" charset="-120"/>
              </a:rPr>
              <a:t>Memetakan calon pembeli untuk M&amp;A.</a:t>
            </a:r>
            <a:endParaRPr lang="id-ID" sz="1700" dirty="0"/>
          </a:p>
        </p:txBody>
      </p:sp>
      <p:sp>
        <p:nvSpPr>
          <p:cNvPr id="12" name="Shape 10"/>
          <p:cNvSpPr/>
          <p:nvPr/>
        </p:nvSpPr>
        <p:spPr>
          <a:xfrm>
            <a:off x="502920" y="3200400"/>
            <a:ext cx="4389120" cy="713232"/>
          </a:xfrm>
          <a:prstGeom prst="roundRect">
            <a:avLst>
              <a:gd name="adj" fmla="val 11538"/>
            </a:avLst>
          </a:prstGeom>
          <a:solidFill>
            <a:srgbClr val="F0EFF2"/>
          </a:solidFill>
          <a:ln w="6985">
            <a:solidFill>
              <a:srgbClr val="DFDCE2"/>
            </a:solidFill>
            <a:prstDash val="solid"/>
          </a:ln>
        </p:spPr>
      </p:sp>
      <p:sp>
        <p:nvSpPr>
          <p:cNvPr id="13" name="Text 11"/>
          <p:cNvSpPr/>
          <p:nvPr/>
        </p:nvSpPr>
        <p:spPr>
          <a:xfrm>
            <a:off x="676656" y="3264408"/>
            <a:ext cx="4041648" cy="320040"/>
          </a:xfrm>
          <a:prstGeom prst="rect">
            <a:avLst/>
          </a:prstGeom>
          <a:noFill/>
          <a:ln/>
        </p:spPr>
        <p:txBody>
          <a:bodyPr wrap="square" lIns="0" tIns="0" rIns="0" bIns="0" rtlCol="0" anchor="ctr"/>
          <a:lstStyle/>
          <a:p>
            <a:pPr indent="0" marL="0">
              <a:buNone/>
            </a:pPr>
            <a:r>
              <a:rPr lang="en-US" altLang="en-US" sz="2000" b="1" dirty="0">
                <a:solidFill>
                  <a:srgbClr val="3E3C43"/>
                </a:solidFill>
                <a:latin typeface="Aptos" pitchFamily="34" charset="0"/>
                <a:ea typeface="Aptos" pitchFamily="34" charset="-122"/>
                <a:cs typeface="Aptos" pitchFamily="34" charset="-120"/>
              </a:rPr>
              <a:t>catalyst-calendar</a:t>
            </a:r>
            <a:endParaRPr lang="en-US" sz="2000" dirty="0"/>
          </a:p>
        </p:txBody>
      </p:sp>
      <p:sp>
        <p:nvSpPr>
          <p:cNvPr id="14" name="Text 12"/>
          <p:cNvSpPr/>
          <p:nvPr/>
        </p:nvSpPr>
        <p:spPr>
          <a:xfrm>
            <a:off x="676656" y="3593592"/>
            <a:ext cx="4041648" cy="274320"/>
          </a:xfrm>
          <a:prstGeom prst="rect">
            <a:avLst/>
          </a:prstGeom>
          <a:noFill/>
          <a:ln/>
        </p:spPr>
        <p:txBody>
          <a:bodyPr wrap="square" lIns="0" tIns="0" rIns="0" bIns="0" rtlCol="0" anchor="ctr"/>
          <a:lstStyle/>
          <a:p>
            <a:pPr indent="0" marL="0">
              <a:buNone/>
            </a:pPr>
            <a:r>
              <a:rPr lang="id-ID" altLang="en-US" sz="1700" dirty="0">
                <a:solidFill>
                  <a:srgbClr val="585660"/>
                </a:solidFill>
                <a:latin typeface="Aptos" pitchFamily="34" charset="0"/>
                <a:ea typeface="Aptos" pitchFamily="34" charset="-122"/>
                <a:cs typeface="Aptos" pitchFamily="34" charset="-120"/>
              </a:rPr>
              <a:t>Memantau katalis pasar mendatang.</a:t>
            </a:r>
            <a:endParaRPr lang="id-ID" sz="1700" dirty="0"/>
          </a:p>
        </p:txBody>
      </p:sp>
      <p:sp>
        <p:nvSpPr>
          <p:cNvPr id="15" name="Shape 13"/>
          <p:cNvSpPr/>
          <p:nvPr/>
        </p:nvSpPr>
        <p:spPr>
          <a:xfrm>
            <a:off x="502920" y="3995928"/>
            <a:ext cx="4389120" cy="713232"/>
          </a:xfrm>
          <a:prstGeom prst="roundRect">
            <a:avLst>
              <a:gd name="adj" fmla="val 11538"/>
            </a:avLst>
          </a:prstGeom>
          <a:solidFill>
            <a:srgbClr val="F8E8ED"/>
          </a:solidFill>
          <a:ln w="6985">
            <a:solidFill>
              <a:srgbClr val="C78699"/>
            </a:solidFill>
            <a:prstDash val="solid"/>
          </a:ln>
        </p:spPr>
      </p:sp>
      <p:sp>
        <p:nvSpPr>
          <p:cNvPr id="16" name="Text 14"/>
          <p:cNvSpPr/>
          <p:nvPr/>
        </p:nvSpPr>
        <p:spPr>
          <a:xfrm>
            <a:off x="676656" y="4059936"/>
            <a:ext cx="4041648" cy="320040"/>
          </a:xfrm>
          <a:prstGeom prst="rect">
            <a:avLst/>
          </a:prstGeom>
          <a:noFill/>
          <a:ln/>
        </p:spPr>
        <p:txBody>
          <a:bodyPr wrap="square" lIns="0" tIns="0" rIns="0" bIns="0" rtlCol="0" anchor="ctr"/>
          <a:lstStyle/>
          <a:p>
            <a:pPr indent="0" marL="0">
              <a:buNone/>
            </a:pPr>
            <a:r>
              <a:rPr lang="en-US" altLang="en-US" sz="2000" b="1" dirty="0">
                <a:solidFill>
                  <a:srgbClr val="94334F"/>
                </a:solidFill>
                <a:latin typeface="Aptos" pitchFamily="34" charset="0"/>
                <a:ea typeface="Aptos" pitchFamily="34" charset="-122"/>
                <a:cs typeface="Aptos" pitchFamily="34" charset="-120"/>
              </a:rPr>
              <a:t>check-model</a:t>
            </a:r>
            <a:endParaRPr lang="en-US" sz="2000" dirty="0"/>
          </a:p>
        </p:txBody>
      </p:sp>
      <p:sp>
        <p:nvSpPr>
          <p:cNvPr id="17" name="Text 15"/>
          <p:cNvSpPr/>
          <p:nvPr/>
        </p:nvSpPr>
        <p:spPr>
          <a:xfrm>
            <a:off x="676656" y="4389120"/>
            <a:ext cx="4041648" cy="274320"/>
          </a:xfrm>
          <a:prstGeom prst="rect">
            <a:avLst/>
          </a:prstGeom>
          <a:noFill/>
          <a:ln/>
        </p:spPr>
        <p:txBody>
          <a:bodyPr wrap="square" lIns="0" tIns="0" rIns="0" bIns="0" rtlCol="0" anchor="ctr"/>
          <a:lstStyle/>
          <a:p>
            <a:pPr indent="0" marL="0">
              <a:buNone/>
            </a:pPr>
            <a:r>
              <a:rPr lang="id-ID" altLang="en-US" sz="1700" dirty="0">
                <a:solidFill>
                  <a:srgbClr val="94334F"/>
                </a:solidFill>
                <a:latin typeface="Aptos" pitchFamily="34" charset="0"/>
                <a:ea typeface="Aptos" pitchFamily="34" charset="-122"/>
                <a:cs typeface="Aptos" pitchFamily="34" charset="-120"/>
              </a:rPr>
              <a:t>Memeriksa kesalahan model keuangan.</a:t>
            </a:r>
            <a:endParaRPr lang="id-ID" sz="1700" dirty="0"/>
          </a:p>
        </p:txBody>
      </p:sp>
      <p:sp>
        <p:nvSpPr>
          <p:cNvPr id="18" name="Shape 16"/>
          <p:cNvSpPr/>
          <p:nvPr/>
        </p:nvSpPr>
        <p:spPr>
          <a:xfrm>
            <a:off x="502920" y="4791456"/>
            <a:ext cx="4389120" cy="713232"/>
          </a:xfrm>
          <a:prstGeom prst="roundRect">
            <a:avLst>
              <a:gd name="adj" fmla="val 11538"/>
            </a:avLst>
          </a:prstGeom>
          <a:solidFill>
            <a:srgbClr val="F0EFF2"/>
          </a:solidFill>
          <a:ln w="6985">
            <a:solidFill>
              <a:srgbClr val="DFDCE2"/>
            </a:solidFill>
            <a:prstDash val="solid"/>
          </a:ln>
        </p:spPr>
      </p:sp>
      <p:sp>
        <p:nvSpPr>
          <p:cNvPr id="19" name="Text 17"/>
          <p:cNvSpPr/>
          <p:nvPr/>
        </p:nvSpPr>
        <p:spPr>
          <a:xfrm>
            <a:off x="676656" y="4855464"/>
            <a:ext cx="4041648" cy="320040"/>
          </a:xfrm>
          <a:prstGeom prst="rect">
            <a:avLst/>
          </a:prstGeom>
          <a:noFill/>
          <a:ln/>
        </p:spPr>
        <p:txBody>
          <a:bodyPr wrap="square" lIns="0" tIns="0" rIns="0" bIns="0" rtlCol="0" anchor="ctr"/>
          <a:lstStyle/>
          <a:p>
            <a:pPr indent="0" marL="0">
              <a:buNone/>
            </a:pPr>
            <a:r>
              <a:rPr lang="en-US" altLang="en-US" sz="2000" b="1" dirty="0">
                <a:solidFill>
                  <a:srgbClr val="3E3C43"/>
                </a:solidFill>
                <a:latin typeface="Aptos" pitchFamily="34" charset="0"/>
                <a:ea typeface="Aptos" pitchFamily="34" charset="-122"/>
                <a:cs typeface="Aptos" pitchFamily="34" charset="-120"/>
              </a:rPr>
              <a:t>comps-analysis</a:t>
            </a:r>
            <a:endParaRPr lang="en-US" sz="2000" dirty="0"/>
          </a:p>
        </p:txBody>
      </p:sp>
      <p:sp>
        <p:nvSpPr>
          <p:cNvPr id="20" name="Text 18"/>
          <p:cNvSpPr/>
          <p:nvPr/>
        </p:nvSpPr>
        <p:spPr>
          <a:xfrm>
            <a:off x="676656" y="5184648"/>
            <a:ext cx="4041648" cy="274320"/>
          </a:xfrm>
          <a:prstGeom prst="rect">
            <a:avLst/>
          </a:prstGeom>
          <a:noFill/>
          <a:ln/>
        </p:spPr>
        <p:txBody>
          <a:bodyPr wrap="square" lIns="0" tIns="0" rIns="0" bIns="0" rtlCol="0" anchor="ctr"/>
          <a:lstStyle/>
          <a:p>
            <a:pPr indent="0" marL="0">
              <a:buNone/>
            </a:pPr>
            <a:r>
              <a:rPr lang="id-ID" altLang="en-US" sz="1700" dirty="0">
                <a:solidFill>
                  <a:srgbClr val="585660"/>
                </a:solidFill>
                <a:latin typeface="Aptos" pitchFamily="34" charset="0"/>
                <a:ea typeface="Aptos" pitchFamily="34" charset="-122"/>
                <a:cs typeface="Aptos" pitchFamily="34" charset="-120"/>
              </a:rPr>
              <a:t>Menganalisis perusahaan pembanding.</a:t>
            </a:r>
            <a:endParaRPr lang="id-ID" sz="1700" dirty="0"/>
          </a:p>
        </p:txBody>
      </p:sp>
      <p:sp>
        <p:nvSpPr>
          <p:cNvPr id="21" name="Shape 19"/>
          <p:cNvSpPr/>
          <p:nvPr/>
        </p:nvSpPr>
        <p:spPr>
          <a:xfrm>
            <a:off x="502920" y="5586984"/>
            <a:ext cx="4389120" cy="713232"/>
          </a:xfrm>
          <a:prstGeom prst="roundRect">
            <a:avLst>
              <a:gd name="adj" fmla="val 11538"/>
            </a:avLst>
          </a:prstGeom>
          <a:solidFill>
            <a:srgbClr val="F8E8ED"/>
          </a:solidFill>
          <a:ln w="6985">
            <a:solidFill>
              <a:srgbClr val="C78699"/>
            </a:solidFill>
            <a:prstDash val="solid"/>
          </a:ln>
        </p:spPr>
      </p:sp>
      <p:sp>
        <p:nvSpPr>
          <p:cNvPr id="22" name="Text 20"/>
          <p:cNvSpPr/>
          <p:nvPr/>
        </p:nvSpPr>
        <p:spPr>
          <a:xfrm>
            <a:off x="676656" y="5650992"/>
            <a:ext cx="4041648" cy="320040"/>
          </a:xfrm>
          <a:prstGeom prst="rect">
            <a:avLst/>
          </a:prstGeom>
          <a:noFill/>
          <a:ln/>
        </p:spPr>
        <p:txBody>
          <a:bodyPr wrap="square" lIns="0" tIns="0" rIns="0" bIns="0" rtlCol="0" anchor="ctr"/>
          <a:lstStyle/>
          <a:p>
            <a:pPr indent="0" marL="0">
              <a:buNone/>
            </a:pPr>
            <a:r>
              <a:rPr lang="en-US" altLang="en-US" sz="2000" b="1" dirty="0">
                <a:solidFill>
                  <a:srgbClr val="94334F"/>
                </a:solidFill>
                <a:latin typeface="Aptos" pitchFamily="34" charset="0"/>
                <a:ea typeface="Aptos" pitchFamily="34" charset="-122"/>
                <a:cs typeface="Aptos" pitchFamily="34" charset="-120"/>
              </a:rPr>
              <a:t>datapack-builder</a:t>
            </a:r>
            <a:endParaRPr lang="en-US" sz="2000" dirty="0"/>
          </a:p>
        </p:txBody>
      </p:sp>
      <p:sp>
        <p:nvSpPr>
          <p:cNvPr id="23" name="Text 21"/>
          <p:cNvSpPr/>
          <p:nvPr/>
        </p:nvSpPr>
        <p:spPr>
          <a:xfrm>
            <a:off x="676656" y="5980176"/>
            <a:ext cx="4041648" cy="274320"/>
          </a:xfrm>
          <a:prstGeom prst="rect">
            <a:avLst/>
          </a:prstGeom>
          <a:noFill/>
          <a:ln/>
        </p:spPr>
        <p:txBody>
          <a:bodyPr wrap="square" lIns="0" tIns="0" rIns="0" bIns="0" rtlCol="0" anchor="ctr"/>
          <a:lstStyle/>
          <a:p>
            <a:pPr indent="0" marL="0">
              <a:buNone/>
            </a:pPr>
            <a:r>
              <a:rPr lang="id-ID" altLang="en-US" sz="1700" dirty="0">
                <a:solidFill>
                  <a:srgbClr val="94334F"/>
                </a:solidFill>
                <a:latin typeface="Aptos" pitchFamily="34" charset="0"/>
                <a:ea typeface="Aptos" pitchFamily="34" charset="-122"/>
                <a:cs typeface="Aptos" pitchFamily="34" charset="-120"/>
              </a:rPr>
              <a:t>Menyusun paket data keuangan.</a:t>
            </a:r>
            <a:endParaRPr lang="id-ID" sz="1700" dirty="0"/>
          </a:p>
        </p:txBody>
      </p:sp>
      <p:sp>
        <p:nvSpPr>
          <p:cNvPr id="24" name="Shape 22"/>
          <p:cNvSpPr/>
          <p:nvPr/>
        </p:nvSpPr>
        <p:spPr>
          <a:xfrm>
            <a:off x="502920" y="6382512"/>
            <a:ext cx="4389120" cy="713232"/>
          </a:xfrm>
          <a:prstGeom prst="roundRect">
            <a:avLst>
              <a:gd name="adj" fmla="val 11538"/>
            </a:avLst>
          </a:prstGeom>
          <a:solidFill>
            <a:srgbClr val="F0EFF2"/>
          </a:solidFill>
          <a:ln w="6985">
            <a:solidFill>
              <a:srgbClr val="DFDCE2"/>
            </a:solidFill>
            <a:prstDash val="solid"/>
          </a:ln>
        </p:spPr>
      </p:sp>
      <p:sp>
        <p:nvSpPr>
          <p:cNvPr id="25" name="Text 23"/>
          <p:cNvSpPr/>
          <p:nvPr/>
        </p:nvSpPr>
        <p:spPr>
          <a:xfrm>
            <a:off x="676656" y="6446520"/>
            <a:ext cx="4041648" cy="320040"/>
          </a:xfrm>
          <a:prstGeom prst="rect">
            <a:avLst/>
          </a:prstGeom>
          <a:noFill/>
          <a:ln/>
        </p:spPr>
        <p:txBody>
          <a:bodyPr wrap="square" lIns="0" tIns="0" rIns="0" bIns="0" rtlCol="0" anchor="ctr"/>
          <a:lstStyle/>
          <a:p>
            <a:pPr indent="0" marL="0">
              <a:buNone/>
            </a:pPr>
            <a:r>
              <a:rPr lang="en-US" altLang="en-US" sz="2000" b="1" dirty="0">
                <a:solidFill>
                  <a:srgbClr val="3E3C43"/>
                </a:solidFill>
                <a:latin typeface="Aptos" pitchFamily="34" charset="0"/>
                <a:ea typeface="Aptos" pitchFamily="34" charset="-122"/>
                <a:cs typeface="Aptos" pitchFamily="34" charset="-120"/>
              </a:rPr>
              <a:t>dd-checklist</a:t>
            </a:r>
            <a:endParaRPr lang="en-US" sz="2000" dirty="0"/>
          </a:p>
        </p:txBody>
      </p:sp>
      <p:sp>
        <p:nvSpPr>
          <p:cNvPr id="26" name="Text 24"/>
          <p:cNvSpPr/>
          <p:nvPr/>
        </p:nvSpPr>
        <p:spPr>
          <a:xfrm>
            <a:off x="676656" y="6775704"/>
            <a:ext cx="4041648" cy="274320"/>
          </a:xfrm>
          <a:prstGeom prst="rect">
            <a:avLst/>
          </a:prstGeom>
          <a:noFill/>
          <a:ln/>
        </p:spPr>
        <p:txBody>
          <a:bodyPr wrap="square" lIns="0" tIns="0" rIns="0" bIns="0" rtlCol="0" anchor="ctr"/>
          <a:lstStyle/>
          <a:p>
            <a:pPr indent="0" marL="0">
              <a:buNone/>
            </a:pPr>
            <a:r>
              <a:rPr lang="id-ID" altLang="en-US" sz="1700" dirty="0">
                <a:solidFill>
                  <a:srgbClr val="585660"/>
                </a:solidFill>
                <a:latin typeface="Aptos" pitchFamily="34" charset="0"/>
                <a:ea typeface="Aptos" pitchFamily="34" charset="-122"/>
                <a:cs typeface="Aptos" pitchFamily="34" charset="-120"/>
              </a:rPr>
              <a:t>Memantau checklist uji tuntas.</a:t>
            </a:r>
            <a:endParaRPr lang="id-ID" sz="1700" dirty="0"/>
          </a:p>
        </p:txBody>
      </p:sp>
      <p:sp>
        <p:nvSpPr>
          <p:cNvPr id="27" name="Shape 25"/>
          <p:cNvSpPr/>
          <p:nvPr/>
        </p:nvSpPr>
        <p:spPr>
          <a:xfrm>
            <a:off x="5120640" y="1609344"/>
            <a:ext cx="4389120" cy="713232"/>
          </a:xfrm>
          <a:prstGeom prst="roundRect">
            <a:avLst>
              <a:gd name="adj" fmla="val 11538"/>
            </a:avLst>
          </a:prstGeom>
          <a:solidFill>
            <a:srgbClr val="F0EFF2"/>
          </a:solidFill>
          <a:ln w="6985">
            <a:solidFill>
              <a:srgbClr val="DFDCE2"/>
            </a:solidFill>
            <a:prstDash val="solid"/>
          </a:ln>
        </p:spPr>
      </p:sp>
      <p:sp>
        <p:nvSpPr>
          <p:cNvPr id="28" name="Text 26"/>
          <p:cNvSpPr/>
          <p:nvPr/>
        </p:nvSpPr>
        <p:spPr>
          <a:xfrm>
            <a:off x="5294376" y="1673352"/>
            <a:ext cx="4041648" cy="320040"/>
          </a:xfrm>
          <a:prstGeom prst="rect">
            <a:avLst/>
          </a:prstGeom>
          <a:noFill/>
          <a:ln/>
        </p:spPr>
        <p:txBody>
          <a:bodyPr wrap="square" lIns="0" tIns="0" rIns="0" bIns="0" rtlCol="0" anchor="ctr"/>
          <a:lstStyle/>
          <a:p>
            <a:pPr indent="0" marL="0">
              <a:buNone/>
            </a:pPr>
            <a:r>
              <a:rPr lang="en-US" altLang="en-US" sz="2000" b="1" dirty="0">
                <a:solidFill>
                  <a:srgbClr val="3E3C43"/>
                </a:solidFill>
                <a:latin typeface="Aptos" pitchFamily="34" charset="0"/>
                <a:ea typeface="Aptos" pitchFamily="34" charset="-122"/>
                <a:cs typeface="Aptos" pitchFamily="34" charset="-120"/>
              </a:rPr>
              <a:t>dd-meeting-prep</a:t>
            </a:r>
            <a:endParaRPr lang="en-US" sz="2000" dirty="0"/>
          </a:p>
        </p:txBody>
      </p:sp>
      <p:sp>
        <p:nvSpPr>
          <p:cNvPr id="29" name="Text 27"/>
          <p:cNvSpPr/>
          <p:nvPr/>
        </p:nvSpPr>
        <p:spPr>
          <a:xfrm>
            <a:off x="5294376" y="2002536"/>
            <a:ext cx="4041648" cy="274320"/>
          </a:xfrm>
          <a:prstGeom prst="rect">
            <a:avLst/>
          </a:prstGeom>
          <a:noFill/>
          <a:ln/>
        </p:spPr>
        <p:txBody>
          <a:bodyPr wrap="square" lIns="0" tIns="0" rIns="0" bIns="0" rtlCol="0" anchor="ctr"/>
          <a:lstStyle/>
          <a:p>
            <a:pPr indent="0" marL="0">
              <a:buNone/>
            </a:pPr>
            <a:r>
              <a:rPr lang="id-ID" altLang="en-US" sz="1700" dirty="0">
                <a:solidFill>
                  <a:srgbClr val="585660"/>
                </a:solidFill>
                <a:latin typeface="Aptos" pitchFamily="34" charset="0"/>
                <a:ea typeface="Aptos" pitchFamily="34" charset="-122"/>
                <a:cs typeface="Aptos" pitchFamily="34" charset="-120"/>
              </a:rPr>
              <a:t>Menyiapkan rapat uji tuntas.</a:t>
            </a:r>
            <a:endParaRPr lang="id-ID" sz="1700" dirty="0"/>
          </a:p>
        </p:txBody>
      </p:sp>
      <p:sp>
        <p:nvSpPr>
          <p:cNvPr id="30" name="Shape 28"/>
          <p:cNvSpPr/>
          <p:nvPr/>
        </p:nvSpPr>
        <p:spPr>
          <a:xfrm>
            <a:off x="5120640" y="2404872"/>
            <a:ext cx="4389120" cy="713232"/>
          </a:xfrm>
          <a:prstGeom prst="roundRect">
            <a:avLst>
              <a:gd name="adj" fmla="val 11538"/>
            </a:avLst>
          </a:prstGeom>
          <a:solidFill>
            <a:srgbClr val="F0EFF2"/>
          </a:solidFill>
          <a:ln w="6985">
            <a:solidFill>
              <a:srgbClr val="DFDCE2"/>
            </a:solidFill>
            <a:prstDash val="solid"/>
          </a:ln>
        </p:spPr>
      </p:sp>
      <p:sp>
        <p:nvSpPr>
          <p:cNvPr id="31" name="Text 29"/>
          <p:cNvSpPr/>
          <p:nvPr/>
        </p:nvSpPr>
        <p:spPr>
          <a:xfrm>
            <a:off x="5294376" y="2468880"/>
            <a:ext cx="4041648" cy="320040"/>
          </a:xfrm>
          <a:prstGeom prst="rect">
            <a:avLst/>
          </a:prstGeom>
          <a:noFill/>
          <a:ln/>
        </p:spPr>
        <p:txBody>
          <a:bodyPr wrap="square" lIns="0" tIns="0" rIns="0" bIns="0" rtlCol="0" anchor="ctr"/>
          <a:lstStyle/>
          <a:p>
            <a:pPr indent="0" marL="0">
              <a:buNone/>
            </a:pPr>
            <a:r>
              <a:rPr lang="en-US" altLang="en-US" sz="2000" b="1" dirty="0">
                <a:solidFill>
                  <a:srgbClr val="3E3C43"/>
                </a:solidFill>
                <a:latin typeface="Aptos" pitchFamily="34" charset="0"/>
                <a:ea typeface="Aptos" pitchFamily="34" charset="-122"/>
                <a:cs typeface="Aptos" pitchFamily="34" charset="-120"/>
              </a:rPr>
              <a:t>deal-screening</a:t>
            </a:r>
            <a:endParaRPr lang="en-US" sz="2000" dirty="0"/>
          </a:p>
        </p:txBody>
      </p:sp>
      <p:sp>
        <p:nvSpPr>
          <p:cNvPr id="32" name="Text 30"/>
          <p:cNvSpPr/>
          <p:nvPr/>
        </p:nvSpPr>
        <p:spPr>
          <a:xfrm>
            <a:off x="5294376" y="2798064"/>
            <a:ext cx="4041648" cy="274320"/>
          </a:xfrm>
          <a:prstGeom prst="rect">
            <a:avLst/>
          </a:prstGeom>
          <a:noFill/>
          <a:ln/>
        </p:spPr>
        <p:txBody>
          <a:bodyPr wrap="square" lIns="0" tIns="0" rIns="0" bIns="0" rtlCol="0" anchor="ctr"/>
          <a:lstStyle/>
          <a:p>
            <a:pPr indent="0" marL="0">
              <a:buNone/>
            </a:pPr>
            <a:r>
              <a:rPr lang="id-ID" altLang="en-US" sz="1700" dirty="0">
                <a:solidFill>
                  <a:srgbClr val="585660"/>
                </a:solidFill>
                <a:latin typeface="Aptos" pitchFamily="34" charset="0"/>
                <a:ea typeface="Aptos" pitchFamily="34" charset="-122"/>
                <a:cs typeface="Aptos" pitchFamily="34" charset="-120"/>
              </a:rPr>
              <a:t>Menyaring peluang transaksi.</a:t>
            </a:r>
            <a:endParaRPr lang="id-ID" sz="1700" dirty="0"/>
          </a:p>
        </p:txBody>
      </p:sp>
      <p:sp>
        <p:nvSpPr>
          <p:cNvPr id="33" name="Shape 31"/>
          <p:cNvSpPr/>
          <p:nvPr/>
        </p:nvSpPr>
        <p:spPr>
          <a:xfrm>
            <a:off x="5120640" y="3200400"/>
            <a:ext cx="4389120" cy="713232"/>
          </a:xfrm>
          <a:prstGeom prst="roundRect">
            <a:avLst>
              <a:gd name="adj" fmla="val 11538"/>
            </a:avLst>
          </a:prstGeom>
          <a:solidFill>
            <a:srgbClr val="F0EFF2"/>
          </a:solidFill>
          <a:ln w="6985">
            <a:solidFill>
              <a:srgbClr val="DFDCE2"/>
            </a:solidFill>
            <a:prstDash val="solid"/>
          </a:ln>
        </p:spPr>
      </p:sp>
      <p:sp>
        <p:nvSpPr>
          <p:cNvPr id="34" name="Text 32"/>
          <p:cNvSpPr/>
          <p:nvPr/>
        </p:nvSpPr>
        <p:spPr>
          <a:xfrm>
            <a:off x="5294376" y="3264408"/>
            <a:ext cx="4041648" cy="320040"/>
          </a:xfrm>
          <a:prstGeom prst="rect">
            <a:avLst/>
          </a:prstGeom>
          <a:noFill/>
          <a:ln/>
        </p:spPr>
        <p:txBody>
          <a:bodyPr wrap="square" lIns="0" tIns="0" rIns="0" bIns="0" rtlCol="0" anchor="ctr"/>
          <a:lstStyle/>
          <a:p>
            <a:pPr indent="0" marL="0">
              <a:buNone/>
            </a:pPr>
            <a:r>
              <a:rPr lang="en-US" altLang="en-US" sz="2000" b="1" dirty="0">
                <a:solidFill>
                  <a:srgbClr val="3E3C43"/>
                </a:solidFill>
                <a:latin typeface="Aptos" pitchFamily="34" charset="0"/>
                <a:ea typeface="Aptos" pitchFamily="34" charset="-122"/>
                <a:cs typeface="Aptos" pitchFamily="34" charset="-120"/>
              </a:rPr>
              <a:t>deal-sourcing</a:t>
            </a:r>
            <a:endParaRPr lang="en-US" sz="2000" dirty="0"/>
          </a:p>
        </p:txBody>
      </p:sp>
      <p:sp>
        <p:nvSpPr>
          <p:cNvPr id="35" name="Text 33"/>
          <p:cNvSpPr/>
          <p:nvPr/>
        </p:nvSpPr>
        <p:spPr>
          <a:xfrm>
            <a:off x="5294376" y="3593592"/>
            <a:ext cx="4041648" cy="274320"/>
          </a:xfrm>
          <a:prstGeom prst="rect">
            <a:avLst/>
          </a:prstGeom>
          <a:noFill/>
          <a:ln/>
        </p:spPr>
        <p:txBody>
          <a:bodyPr wrap="square" lIns="0" tIns="0" rIns="0" bIns="0" rtlCol="0" anchor="ctr"/>
          <a:lstStyle/>
          <a:p>
            <a:pPr indent="0" marL="0">
              <a:buNone/>
            </a:pPr>
            <a:r>
              <a:rPr lang="id-ID" altLang="en-US" sz="1700" dirty="0">
                <a:solidFill>
                  <a:srgbClr val="585660"/>
                </a:solidFill>
                <a:latin typeface="Aptos" pitchFamily="34" charset="0"/>
                <a:ea typeface="Aptos" pitchFamily="34" charset="-122"/>
                <a:cs typeface="Aptos" pitchFamily="34" charset="-120"/>
              </a:rPr>
              <a:t>Mencari transaksi dan menyusun pesan.</a:t>
            </a:r>
            <a:endParaRPr lang="id-ID" sz="1700" dirty="0"/>
          </a:p>
        </p:txBody>
      </p:sp>
      <p:sp>
        <p:nvSpPr>
          <p:cNvPr id="36" name="Shape 34"/>
          <p:cNvSpPr/>
          <p:nvPr/>
        </p:nvSpPr>
        <p:spPr>
          <a:xfrm>
            <a:off x="5120640" y="3995928"/>
            <a:ext cx="4389120" cy="713232"/>
          </a:xfrm>
          <a:prstGeom prst="roundRect">
            <a:avLst>
              <a:gd name="adj" fmla="val 11538"/>
            </a:avLst>
          </a:prstGeom>
          <a:solidFill>
            <a:srgbClr val="F0EFF2"/>
          </a:solidFill>
          <a:ln w="6985">
            <a:solidFill>
              <a:srgbClr val="DFDCE2"/>
            </a:solidFill>
            <a:prstDash val="solid"/>
          </a:ln>
        </p:spPr>
      </p:sp>
      <p:sp>
        <p:nvSpPr>
          <p:cNvPr id="37" name="Text 35"/>
          <p:cNvSpPr/>
          <p:nvPr/>
        </p:nvSpPr>
        <p:spPr>
          <a:xfrm>
            <a:off x="5294376" y="4059936"/>
            <a:ext cx="4041648" cy="320040"/>
          </a:xfrm>
          <a:prstGeom prst="rect">
            <a:avLst/>
          </a:prstGeom>
          <a:noFill/>
          <a:ln/>
        </p:spPr>
        <p:txBody>
          <a:bodyPr wrap="square" lIns="0" tIns="0" rIns="0" bIns="0" rtlCol="0" anchor="ctr"/>
          <a:lstStyle/>
          <a:p>
            <a:pPr indent="0" marL="0">
              <a:buNone/>
            </a:pPr>
            <a:r>
              <a:rPr lang="en-US" altLang="en-US" sz="2000" b="1" dirty="0">
                <a:solidFill>
                  <a:srgbClr val="3E3C43"/>
                </a:solidFill>
                <a:latin typeface="Aptos" pitchFamily="34" charset="0"/>
                <a:ea typeface="Aptos" pitchFamily="34" charset="-122"/>
                <a:cs typeface="Aptos" pitchFamily="34" charset="-120"/>
              </a:rPr>
              <a:t>deal-tracker</a:t>
            </a:r>
            <a:endParaRPr lang="en-US" sz="2000" dirty="0"/>
          </a:p>
        </p:txBody>
      </p:sp>
      <p:sp>
        <p:nvSpPr>
          <p:cNvPr id="38" name="Text 36"/>
          <p:cNvSpPr/>
          <p:nvPr/>
        </p:nvSpPr>
        <p:spPr>
          <a:xfrm>
            <a:off x="5294376" y="4389120"/>
            <a:ext cx="4041648" cy="274320"/>
          </a:xfrm>
          <a:prstGeom prst="rect">
            <a:avLst/>
          </a:prstGeom>
          <a:noFill/>
          <a:ln/>
        </p:spPr>
        <p:txBody>
          <a:bodyPr wrap="square" lIns="0" tIns="0" rIns="0" bIns="0" rtlCol="0" anchor="ctr"/>
          <a:lstStyle/>
          <a:p>
            <a:pPr indent="0" marL="0">
              <a:buNone/>
            </a:pPr>
            <a:r>
              <a:rPr lang="id-ID" altLang="en-US" sz="1700" dirty="0">
                <a:solidFill>
                  <a:srgbClr val="585660"/>
                </a:solidFill>
                <a:latin typeface="Aptos" pitchFamily="34" charset="0"/>
                <a:ea typeface="Aptos" pitchFamily="34" charset="-122"/>
                <a:cs typeface="Aptos" pitchFamily="34" charset="-120"/>
              </a:rPr>
              <a:t>Memantau transaksi dan tenggat.</a:t>
            </a:r>
            <a:endParaRPr lang="id-ID" sz="1700" dirty="0"/>
          </a:p>
        </p:txBody>
      </p:sp>
      <p:sp>
        <p:nvSpPr>
          <p:cNvPr id="39" name="Shape 37"/>
          <p:cNvSpPr/>
          <p:nvPr/>
        </p:nvSpPr>
        <p:spPr>
          <a:xfrm>
            <a:off x="5120640" y="4791456"/>
            <a:ext cx="4389120" cy="713232"/>
          </a:xfrm>
          <a:prstGeom prst="roundRect">
            <a:avLst>
              <a:gd name="adj" fmla="val 11538"/>
            </a:avLst>
          </a:prstGeom>
          <a:solidFill>
            <a:srgbClr val="F0EFF2"/>
          </a:solidFill>
          <a:ln w="6985">
            <a:solidFill>
              <a:srgbClr val="DFDCE2"/>
            </a:solidFill>
            <a:prstDash val="solid"/>
          </a:ln>
        </p:spPr>
      </p:sp>
      <p:sp>
        <p:nvSpPr>
          <p:cNvPr id="40" name="Text 38"/>
          <p:cNvSpPr/>
          <p:nvPr/>
        </p:nvSpPr>
        <p:spPr>
          <a:xfrm>
            <a:off x="5294376" y="4855464"/>
            <a:ext cx="4041648" cy="320040"/>
          </a:xfrm>
          <a:prstGeom prst="rect">
            <a:avLst/>
          </a:prstGeom>
          <a:noFill/>
          <a:ln/>
        </p:spPr>
        <p:txBody>
          <a:bodyPr wrap="square" lIns="0" tIns="0" rIns="0" bIns="0" rtlCol="0" anchor="ctr"/>
          <a:lstStyle/>
          <a:p>
            <a:pPr indent="0" marL="0">
              <a:buNone/>
            </a:pPr>
            <a:r>
              <a:rPr lang="en-US" altLang="en-US" sz="2000" b="1" dirty="0">
                <a:solidFill>
                  <a:srgbClr val="3E3C43"/>
                </a:solidFill>
                <a:latin typeface="Aptos" pitchFamily="34" charset="0"/>
                <a:ea typeface="Aptos" pitchFamily="34" charset="-122"/>
                <a:cs typeface="Aptos" pitchFamily="34" charset="-120"/>
              </a:rPr>
              <a:t>idea-generation</a:t>
            </a:r>
            <a:endParaRPr lang="en-US" sz="2000" dirty="0"/>
          </a:p>
        </p:txBody>
      </p:sp>
      <p:sp>
        <p:nvSpPr>
          <p:cNvPr id="41" name="Text 39"/>
          <p:cNvSpPr/>
          <p:nvPr/>
        </p:nvSpPr>
        <p:spPr>
          <a:xfrm>
            <a:off x="5294376" y="5184648"/>
            <a:ext cx="4041648" cy="274320"/>
          </a:xfrm>
          <a:prstGeom prst="rect">
            <a:avLst/>
          </a:prstGeom>
          <a:noFill/>
          <a:ln/>
        </p:spPr>
        <p:txBody>
          <a:bodyPr wrap="square" lIns="0" tIns="0" rIns="0" bIns="0" rtlCol="0" anchor="ctr"/>
          <a:lstStyle/>
          <a:p>
            <a:pPr indent="0" marL="0">
              <a:buNone/>
            </a:pPr>
            <a:r>
              <a:rPr lang="id-ID" altLang="en-US" sz="1700" dirty="0">
                <a:solidFill>
                  <a:srgbClr val="585660"/>
                </a:solidFill>
                <a:latin typeface="Aptos" pitchFamily="34" charset="0"/>
                <a:ea typeface="Aptos" pitchFamily="34" charset="-122"/>
                <a:cs typeface="Aptos" pitchFamily="34" charset="-120"/>
              </a:rPr>
              <a:t>Mencari dan menyaring ide investasi.</a:t>
            </a:r>
            <a:endParaRPr lang="id-ID" sz="1700" dirty="0"/>
          </a:p>
        </p:txBody>
      </p:sp>
      <p:sp>
        <p:nvSpPr>
          <p:cNvPr id="42" name="Shape 40"/>
          <p:cNvSpPr/>
          <p:nvPr/>
        </p:nvSpPr>
        <p:spPr>
          <a:xfrm>
            <a:off x="5120640" y="5586984"/>
            <a:ext cx="4389120" cy="713232"/>
          </a:xfrm>
          <a:prstGeom prst="roundRect">
            <a:avLst>
              <a:gd name="adj" fmla="val 11538"/>
            </a:avLst>
          </a:prstGeom>
          <a:solidFill>
            <a:srgbClr val="F0EFF2"/>
          </a:solidFill>
          <a:ln w="6985">
            <a:solidFill>
              <a:srgbClr val="DFDCE2"/>
            </a:solidFill>
            <a:prstDash val="solid"/>
          </a:ln>
        </p:spPr>
      </p:sp>
      <p:sp>
        <p:nvSpPr>
          <p:cNvPr id="43" name="Text 41"/>
          <p:cNvSpPr/>
          <p:nvPr/>
        </p:nvSpPr>
        <p:spPr>
          <a:xfrm>
            <a:off x="5294376" y="5650992"/>
            <a:ext cx="4041648" cy="320040"/>
          </a:xfrm>
          <a:prstGeom prst="rect">
            <a:avLst/>
          </a:prstGeom>
          <a:noFill/>
          <a:ln/>
        </p:spPr>
        <p:txBody>
          <a:bodyPr wrap="square" lIns="0" tIns="0" rIns="0" bIns="0" rtlCol="0" anchor="ctr"/>
          <a:lstStyle/>
          <a:p>
            <a:pPr indent="0" marL="0">
              <a:buNone/>
            </a:pPr>
            <a:r>
              <a:rPr lang="en-US" altLang="en-US" sz="2000" b="1" dirty="0">
                <a:solidFill>
                  <a:srgbClr val="3E3C43"/>
                </a:solidFill>
                <a:latin typeface="Aptos" pitchFamily="34" charset="0"/>
                <a:ea typeface="Aptos" pitchFamily="34" charset="-122"/>
                <a:cs typeface="Aptos" pitchFamily="34" charset="-120"/>
              </a:rPr>
              <a:t>lbo-model</a:t>
            </a:r>
            <a:endParaRPr lang="en-US" sz="2000" dirty="0"/>
          </a:p>
        </p:txBody>
      </p:sp>
      <p:sp>
        <p:nvSpPr>
          <p:cNvPr id="44" name="Text 42"/>
          <p:cNvSpPr/>
          <p:nvPr/>
        </p:nvSpPr>
        <p:spPr>
          <a:xfrm>
            <a:off x="5294376" y="5980176"/>
            <a:ext cx="4041648" cy="274320"/>
          </a:xfrm>
          <a:prstGeom prst="rect">
            <a:avLst/>
          </a:prstGeom>
          <a:noFill/>
          <a:ln/>
        </p:spPr>
        <p:txBody>
          <a:bodyPr wrap="square" lIns="0" tIns="0" rIns="0" bIns="0" rtlCol="0" anchor="ctr"/>
          <a:lstStyle/>
          <a:p>
            <a:pPr indent="0" marL="0">
              <a:buNone/>
            </a:pPr>
            <a:r>
              <a:rPr lang="id-ID" altLang="en-US" sz="1700" dirty="0">
                <a:solidFill>
                  <a:srgbClr val="585660"/>
                </a:solidFill>
                <a:latin typeface="Aptos" pitchFamily="34" charset="0"/>
                <a:ea typeface="Aptos" pitchFamily="34" charset="-122"/>
                <a:cs typeface="Aptos" pitchFamily="34" charset="-120"/>
              </a:rPr>
              <a:t>Menyusun model leveraged buyout.</a:t>
            </a:r>
            <a:endParaRPr lang="id-ID" sz="1700" dirty="0"/>
          </a:p>
        </p:txBody>
      </p:sp>
      <p:sp>
        <p:nvSpPr>
          <p:cNvPr id="45" name="Shape 43"/>
          <p:cNvSpPr/>
          <p:nvPr/>
        </p:nvSpPr>
        <p:spPr>
          <a:xfrm>
            <a:off x="5120640" y="6382512"/>
            <a:ext cx="4389120" cy="713232"/>
          </a:xfrm>
          <a:prstGeom prst="roundRect">
            <a:avLst>
              <a:gd name="adj" fmla="val 11538"/>
            </a:avLst>
          </a:prstGeom>
          <a:solidFill>
            <a:srgbClr val="F0EFF2"/>
          </a:solidFill>
          <a:ln w="6985">
            <a:solidFill>
              <a:srgbClr val="DFDCE2"/>
            </a:solidFill>
            <a:prstDash val="solid"/>
          </a:ln>
        </p:spPr>
      </p:sp>
      <p:sp>
        <p:nvSpPr>
          <p:cNvPr id="46" name="Text 44"/>
          <p:cNvSpPr/>
          <p:nvPr/>
        </p:nvSpPr>
        <p:spPr>
          <a:xfrm>
            <a:off x="5294376" y="6446520"/>
            <a:ext cx="4041648" cy="320040"/>
          </a:xfrm>
          <a:prstGeom prst="rect">
            <a:avLst/>
          </a:prstGeom>
          <a:noFill/>
          <a:ln/>
        </p:spPr>
        <p:txBody>
          <a:bodyPr wrap="square" lIns="0" tIns="0" rIns="0" bIns="0" rtlCol="0" anchor="ctr"/>
          <a:lstStyle/>
          <a:p>
            <a:pPr indent="0" marL="0">
              <a:buNone/>
            </a:pPr>
            <a:r>
              <a:rPr lang="en-US" altLang="en-US" sz="2000" b="1" dirty="0">
                <a:solidFill>
                  <a:srgbClr val="3E3C43"/>
                </a:solidFill>
                <a:latin typeface="Aptos" pitchFamily="34" charset="0"/>
                <a:ea typeface="Aptos" pitchFamily="34" charset="-122"/>
                <a:cs typeface="Aptos" pitchFamily="34" charset="-120"/>
              </a:rPr>
              <a:t>merger-model</a:t>
            </a:r>
            <a:endParaRPr lang="en-US" sz="2000" dirty="0"/>
          </a:p>
        </p:txBody>
      </p:sp>
      <p:sp>
        <p:nvSpPr>
          <p:cNvPr id="47" name="Text 45"/>
          <p:cNvSpPr/>
          <p:nvPr/>
        </p:nvSpPr>
        <p:spPr>
          <a:xfrm>
            <a:off x="5294376" y="6775704"/>
            <a:ext cx="4041648" cy="274320"/>
          </a:xfrm>
          <a:prstGeom prst="rect">
            <a:avLst/>
          </a:prstGeom>
          <a:noFill/>
          <a:ln/>
        </p:spPr>
        <p:txBody>
          <a:bodyPr wrap="square" lIns="0" tIns="0" rIns="0" bIns="0" rtlCol="0" anchor="ctr"/>
          <a:lstStyle/>
          <a:p>
            <a:pPr indent="0" marL="0">
              <a:buNone/>
            </a:pPr>
            <a:r>
              <a:rPr lang="id-ID" altLang="en-US" sz="1700" dirty="0">
                <a:solidFill>
                  <a:srgbClr val="585660"/>
                </a:solidFill>
                <a:latin typeface="Aptos" pitchFamily="34" charset="0"/>
                <a:ea typeface="Aptos" pitchFamily="34" charset="-122"/>
                <a:cs typeface="Aptos" pitchFamily="34" charset="-120"/>
              </a:rPr>
              <a:t>Memodelkan akresi/dilusi dari M&amp;A.</a:t>
            </a:r>
            <a:endParaRPr lang="id-ID" sz="1700" dirty="0"/>
          </a:p>
        </p:txBody>
      </p:sp>
      <p:sp>
        <p:nvSpPr>
          <p:cNvPr id="48" name="Shape 46"/>
          <p:cNvSpPr/>
          <p:nvPr/>
        </p:nvSpPr>
        <p:spPr>
          <a:xfrm>
            <a:off x="9738360" y="1609344"/>
            <a:ext cx="4389120" cy="713232"/>
          </a:xfrm>
          <a:prstGeom prst="roundRect">
            <a:avLst>
              <a:gd name="adj" fmla="val 11538"/>
            </a:avLst>
          </a:prstGeom>
          <a:solidFill>
            <a:srgbClr val="F8E8ED"/>
          </a:solidFill>
          <a:ln w="6985">
            <a:solidFill>
              <a:srgbClr val="C78699"/>
            </a:solidFill>
            <a:prstDash val="solid"/>
          </a:ln>
        </p:spPr>
      </p:sp>
      <p:sp>
        <p:nvSpPr>
          <p:cNvPr id="49" name="Text 47"/>
          <p:cNvSpPr/>
          <p:nvPr/>
        </p:nvSpPr>
        <p:spPr>
          <a:xfrm>
            <a:off x="9912096" y="1673352"/>
            <a:ext cx="4041648" cy="320040"/>
          </a:xfrm>
          <a:prstGeom prst="rect">
            <a:avLst/>
          </a:prstGeom>
          <a:noFill/>
          <a:ln/>
        </p:spPr>
        <p:txBody>
          <a:bodyPr wrap="square" lIns="0" tIns="0" rIns="0" bIns="0" rtlCol="0" anchor="ctr"/>
          <a:lstStyle/>
          <a:p>
            <a:pPr indent="0" marL="0">
              <a:buNone/>
            </a:pPr>
            <a:r>
              <a:rPr lang="en-US" altLang="en-US" sz="2000" b="1" dirty="0">
                <a:solidFill>
                  <a:srgbClr val="94334F"/>
                </a:solidFill>
                <a:latin typeface="Aptos" pitchFamily="34" charset="0"/>
                <a:ea typeface="Aptos" pitchFamily="34" charset="-122"/>
                <a:cs typeface="Aptos" pitchFamily="34" charset="-120"/>
              </a:rPr>
              <a:t>model-update</a:t>
            </a:r>
            <a:endParaRPr lang="en-US" sz="2000" dirty="0"/>
          </a:p>
        </p:txBody>
      </p:sp>
      <p:sp>
        <p:nvSpPr>
          <p:cNvPr id="50" name="Text 48"/>
          <p:cNvSpPr/>
          <p:nvPr/>
        </p:nvSpPr>
        <p:spPr>
          <a:xfrm>
            <a:off x="9912096" y="2002536"/>
            <a:ext cx="4041648" cy="274320"/>
          </a:xfrm>
          <a:prstGeom prst="rect">
            <a:avLst/>
          </a:prstGeom>
          <a:noFill/>
          <a:ln/>
        </p:spPr>
        <p:txBody>
          <a:bodyPr wrap="square" lIns="0" tIns="0" rIns="0" bIns="0" rtlCol="0" anchor="ctr"/>
          <a:lstStyle/>
          <a:p>
            <a:pPr indent="0" marL="0">
              <a:buNone/>
            </a:pPr>
            <a:r>
              <a:rPr lang="id-ID" altLang="en-US" sz="1700" dirty="0">
                <a:solidFill>
                  <a:srgbClr val="94334F"/>
                </a:solidFill>
                <a:latin typeface="Aptos" pitchFamily="34" charset="0"/>
                <a:ea typeface="Aptos" pitchFamily="34" charset="-122"/>
                <a:cs typeface="Aptos" pitchFamily="34" charset="-120"/>
              </a:rPr>
              <a:t>Memperbarui model dengan data baru.</a:t>
            </a:r>
            <a:endParaRPr lang="id-ID" sz="1700" dirty="0"/>
          </a:p>
        </p:txBody>
      </p:sp>
      <p:sp>
        <p:nvSpPr>
          <p:cNvPr id="51" name="Shape 49"/>
          <p:cNvSpPr/>
          <p:nvPr/>
        </p:nvSpPr>
        <p:spPr>
          <a:xfrm>
            <a:off x="9738360" y="2404872"/>
            <a:ext cx="4389120" cy="713232"/>
          </a:xfrm>
          <a:prstGeom prst="roundRect">
            <a:avLst>
              <a:gd name="adj" fmla="val 11538"/>
            </a:avLst>
          </a:prstGeom>
          <a:solidFill>
            <a:srgbClr val="F0EFF2"/>
          </a:solidFill>
          <a:ln w="6985">
            <a:solidFill>
              <a:srgbClr val="DFDCE2"/>
            </a:solidFill>
            <a:prstDash val="solid"/>
          </a:ln>
        </p:spPr>
      </p:sp>
      <p:sp>
        <p:nvSpPr>
          <p:cNvPr id="52" name="Text 50"/>
          <p:cNvSpPr/>
          <p:nvPr/>
        </p:nvSpPr>
        <p:spPr>
          <a:xfrm>
            <a:off x="9912096" y="2468880"/>
            <a:ext cx="4041648" cy="320040"/>
          </a:xfrm>
          <a:prstGeom prst="rect">
            <a:avLst/>
          </a:prstGeom>
          <a:noFill/>
          <a:ln/>
        </p:spPr>
        <p:txBody>
          <a:bodyPr wrap="square" lIns="0" tIns="0" rIns="0" bIns="0" rtlCol="0" anchor="ctr"/>
          <a:lstStyle/>
          <a:p>
            <a:pPr indent="0" marL="0">
              <a:buNone/>
            </a:pPr>
            <a:r>
              <a:rPr lang="en-US" altLang="en-US" sz="2000" b="1" dirty="0">
                <a:solidFill>
                  <a:srgbClr val="3E3C43"/>
                </a:solidFill>
                <a:latin typeface="Aptos" pitchFamily="34" charset="0"/>
                <a:ea typeface="Aptos" pitchFamily="34" charset="-122"/>
                <a:cs typeface="Aptos" pitchFamily="34" charset="-120"/>
              </a:rPr>
              <a:t>portfolio-monitoring</a:t>
            </a:r>
            <a:endParaRPr lang="en-US" sz="2000" dirty="0"/>
          </a:p>
        </p:txBody>
      </p:sp>
      <p:sp>
        <p:nvSpPr>
          <p:cNvPr id="53" name="Text 51"/>
          <p:cNvSpPr/>
          <p:nvPr/>
        </p:nvSpPr>
        <p:spPr>
          <a:xfrm>
            <a:off x="9912096" y="2798064"/>
            <a:ext cx="4041648" cy="274320"/>
          </a:xfrm>
          <a:prstGeom prst="rect">
            <a:avLst/>
          </a:prstGeom>
          <a:noFill/>
          <a:ln/>
        </p:spPr>
        <p:txBody>
          <a:bodyPr wrap="square" lIns="0" tIns="0" rIns="0" bIns="0" rtlCol="0" anchor="ctr"/>
          <a:lstStyle/>
          <a:p>
            <a:pPr indent="0" marL="0">
              <a:buNone/>
            </a:pPr>
            <a:r>
              <a:rPr lang="id-ID" altLang="en-US" sz="1700" dirty="0">
                <a:solidFill>
                  <a:srgbClr val="585660"/>
                </a:solidFill>
                <a:latin typeface="Aptos" pitchFamily="34" charset="0"/>
                <a:ea typeface="Aptos" pitchFamily="34" charset="-122"/>
                <a:cs typeface="Aptos" pitchFamily="34" charset="-120"/>
              </a:rPr>
              <a:t>Memantau kinerja portofolio.</a:t>
            </a:r>
            <a:endParaRPr lang="id-ID" sz="1700" dirty="0"/>
          </a:p>
        </p:txBody>
      </p:sp>
      <p:sp>
        <p:nvSpPr>
          <p:cNvPr id="54" name="Shape 52"/>
          <p:cNvSpPr/>
          <p:nvPr/>
        </p:nvSpPr>
        <p:spPr>
          <a:xfrm>
            <a:off x="9738360" y="3200400"/>
            <a:ext cx="4389120" cy="713232"/>
          </a:xfrm>
          <a:prstGeom prst="roundRect">
            <a:avLst>
              <a:gd name="adj" fmla="val 11538"/>
            </a:avLst>
          </a:prstGeom>
          <a:solidFill>
            <a:srgbClr val="F0EFF2"/>
          </a:solidFill>
          <a:ln w="6985">
            <a:solidFill>
              <a:srgbClr val="DFDCE2"/>
            </a:solidFill>
            <a:prstDash val="solid"/>
          </a:ln>
        </p:spPr>
      </p:sp>
      <p:sp>
        <p:nvSpPr>
          <p:cNvPr id="55" name="Text 53"/>
          <p:cNvSpPr/>
          <p:nvPr/>
        </p:nvSpPr>
        <p:spPr>
          <a:xfrm>
            <a:off x="9912096" y="3264408"/>
            <a:ext cx="4041648" cy="320040"/>
          </a:xfrm>
          <a:prstGeom prst="rect">
            <a:avLst/>
          </a:prstGeom>
          <a:noFill/>
          <a:ln/>
        </p:spPr>
        <p:txBody>
          <a:bodyPr wrap="square" lIns="0" tIns="0" rIns="0" bIns="0" rtlCol="0" anchor="ctr"/>
          <a:lstStyle/>
          <a:p>
            <a:pPr indent="0" marL="0">
              <a:buNone/>
            </a:pPr>
            <a:r>
              <a:rPr lang="en-US" altLang="en-US" sz="2000" b="1" dirty="0">
                <a:solidFill>
                  <a:srgbClr val="3E3C43"/>
                </a:solidFill>
                <a:latin typeface="Aptos" pitchFamily="34" charset="0"/>
                <a:ea typeface="Aptos" pitchFamily="34" charset="-122"/>
                <a:cs typeface="Aptos" pitchFamily="34" charset="-120"/>
              </a:rPr>
              <a:t>portfolio-rebalance</a:t>
            </a:r>
            <a:endParaRPr lang="en-US" sz="2000" dirty="0"/>
          </a:p>
        </p:txBody>
      </p:sp>
      <p:sp>
        <p:nvSpPr>
          <p:cNvPr id="56" name="Text 54"/>
          <p:cNvSpPr/>
          <p:nvPr/>
        </p:nvSpPr>
        <p:spPr>
          <a:xfrm>
            <a:off x="9912096" y="3593592"/>
            <a:ext cx="4041648" cy="274320"/>
          </a:xfrm>
          <a:prstGeom prst="rect">
            <a:avLst/>
          </a:prstGeom>
          <a:noFill/>
          <a:ln/>
        </p:spPr>
        <p:txBody>
          <a:bodyPr wrap="square" lIns="0" tIns="0" rIns="0" bIns="0" rtlCol="0" anchor="ctr"/>
          <a:lstStyle/>
          <a:p>
            <a:pPr indent="0" marL="0">
              <a:buNone/>
            </a:pPr>
            <a:r>
              <a:rPr lang="id-ID" altLang="en-US" sz="1700" dirty="0">
                <a:solidFill>
                  <a:srgbClr val="585660"/>
                </a:solidFill>
                <a:latin typeface="Aptos" pitchFamily="34" charset="0"/>
                <a:ea typeface="Aptos" pitchFamily="34" charset="-122"/>
                <a:cs typeface="Aptos" pitchFamily="34" charset="-120"/>
              </a:rPr>
              <a:t>Menyusun usulan rebalancing portofolio.</a:t>
            </a:r>
            <a:endParaRPr lang="id-ID" sz="1700" dirty="0"/>
          </a:p>
        </p:txBody>
      </p:sp>
      <p:sp>
        <p:nvSpPr>
          <p:cNvPr id="57" name="Shape 55"/>
          <p:cNvSpPr/>
          <p:nvPr/>
        </p:nvSpPr>
        <p:spPr>
          <a:xfrm>
            <a:off x="9738360" y="3995928"/>
            <a:ext cx="4389120" cy="713232"/>
          </a:xfrm>
          <a:prstGeom prst="roundRect">
            <a:avLst>
              <a:gd name="adj" fmla="val 11538"/>
            </a:avLst>
          </a:prstGeom>
          <a:solidFill>
            <a:srgbClr val="F0EFF2"/>
          </a:solidFill>
          <a:ln w="6985">
            <a:solidFill>
              <a:srgbClr val="DFDCE2"/>
            </a:solidFill>
            <a:prstDash val="solid"/>
          </a:ln>
        </p:spPr>
      </p:sp>
      <p:sp>
        <p:nvSpPr>
          <p:cNvPr id="58" name="Text 56"/>
          <p:cNvSpPr/>
          <p:nvPr/>
        </p:nvSpPr>
        <p:spPr>
          <a:xfrm>
            <a:off x="9912096" y="4059936"/>
            <a:ext cx="4041648" cy="320040"/>
          </a:xfrm>
          <a:prstGeom prst="rect">
            <a:avLst/>
          </a:prstGeom>
          <a:noFill/>
          <a:ln/>
        </p:spPr>
        <p:txBody>
          <a:bodyPr wrap="square" lIns="0" tIns="0" rIns="0" bIns="0" rtlCol="0" anchor="ctr"/>
          <a:lstStyle/>
          <a:p>
            <a:pPr indent="0" marL="0">
              <a:buNone/>
            </a:pPr>
            <a:r>
              <a:rPr lang="en-US" altLang="en-US" sz="2000" b="1" dirty="0">
                <a:solidFill>
                  <a:srgbClr val="3E3C43"/>
                </a:solidFill>
                <a:latin typeface="Aptos" pitchFamily="34" charset="0"/>
                <a:ea typeface="Aptos" pitchFamily="34" charset="-122"/>
                <a:cs typeface="Aptos" pitchFamily="34" charset="-120"/>
              </a:rPr>
              <a:t>returns-analysis</a:t>
            </a:r>
            <a:endParaRPr lang="en-US" sz="2000" dirty="0"/>
          </a:p>
        </p:txBody>
      </p:sp>
      <p:sp>
        <p:nvSpPr>
          <p:cNvPr id="59" name="Text 57"/>
          <p:cNvSpPr/>
          <p:nvPr/>
        </p:nvSpPr>
        <p:spPr>
          <a:xfrm>
            <a:off x="9912096" y="4389120"/>
            <a:ext cx="4041648" cy="274320"/>
          </a:xfrm>
          <a:prstGeom prst="rect">
            <a:avLst/>
          </a:prstGeom>
          <a:noFill/>
          <a:ln/>
        </p:spPr>
        <p:txBody>
          <a:bodyPr wrap="square" lIns="0" tIns="0" rIns="0" bIns="0" rtlCol="0" anchor="ctr"/>
          <a:lstStyle/>
          <a:p>
            <a:pPr indent="0" marL="0">
              <a:buNone/>
            </a:pPr>
            <a:r>
              <a:rPr lang="id-ID" altLang="en-US" sz="1700" dirty="0">
                <a:solidFill>
                  <a:srgbClr val="585660"/>
                </a:solidFill>
                <a:latin typeface="Aptos" pitchFamily="34" charset="0"/>
                <a:ea typeface="Aptos" pitchFamily="34" charset="-122"/>
                <a:cs typeface="Aptos" pitchFamily="34" charset="-120"/>
              </a:rPr>
              <a:t>Menguji sensitivitas IRR dan MOIC.</a:t>
            </a:r>
            <a:endParaRPr lang="id-ID" sz="1700" dirty="0"/>
          </a:p>
        </p:txBody>
      </p:sp>
      <p:sp>
        <p:nvSpPr>
          <p:cNvPr id="60" name="Shape 58"/>
          <p:cNvSpPr/>
          <p:nvPr/>
        </p:nvSpPr>
        <p:spPr>
          <a:xfrm>
            <a:off x="9738360" y="4791456"/>
            <a:ext cx="4389120" cy="713232"/>
          </a:xfrm>
          <a:prstGeom prst="roundRect">
            <a:avLst>
              <a:gd name="adj" fmla="val 11538"/>
            </a:avLst>
          </a:prstGeom>
          <a:solidFill>
            <a:srgbClr val="F0EFF2"/>
          </a:solidFill>
          <a:ln w="6985">
            <a:solidFill>
              <a:srgbClr val="DFDCE2"/>
            </a:solidFill>
            <a:prstDash val="solid"/>
          </a:ln>
        </p:spPr>
      </p:sp>
      <p:sp>
        <p:nvSpPr>
          <p:cNvPr id="61" name="Text 59"/>
          <p:cNvSpPr/>
          <p:nvPr/>
        </p:nvSpPr>
        <p:spPr>
          <a:xfrm>
            <a:off x="9912096" y="4855464"/>
            <a:ext cx="4041648" cy="320040"/>
          </a:xfrm>
          <a:prstGeom prst="rect">
            <a:avLst/>
          </a:prstGeom>
          <a:noFill/>
          <a:ln/>
        </p:spPr>
        <p:txBody>
          <a:bodyPr wrap="square" lIns="0" tIns="0" rIns="0" bIns="0" rtlCol="0" anchor="ctr"/>
          <a:lstStyle/>
          <a:p>
            <a:pPr indent="0" marL="0">
              <a:buNone/>
            </a:pPr>
            <a:r>
              <a:rPr lang="en-US" altLang="en-US" sz="2000" b="1" dirty="0">
                <a:solidFill>
                  <a:srgbClr val="3E3C43"/>
                </a:solidFill>
                <a:latin typeface="Aptos" pitchFamily="34" charset="0"/>
                <a:ea typeface="Aptos" pitchFamily="34" charset="-122"/>
                <a:cs typeface="Aptos" pitchFamily="34" charset="-120"/>
              </a:rPr>
              <a:t>tax-loss-harvesting</a:t>
            </a:r>
            <a:endParaRPr lang="en-US" sz="2000" dirty="0"/>
          </a:p>
        </p:txBody>
      </p:sp>
      <p:sp>
        <p:nvSpPr>
          <p:cNvPr id="62" name="Text 60"/>
          <p:cNvSpPr/>
          <p:nvPr/>
        </p:nvSpPr>
        <p:spPr>
          <a:xfrm>
            <a:off x="9912096" y="5184648"/>
            <a:ext cx="4041648" cy="274320"/>
          </a:xfrm>
          <a:prstGeom prst="rect">
            <a:avLst/>
          </a:prstGeom>
          <a:noFill/>
          <a:ln/>
        </p:spPr>
        <p:txBody>
          <a:bodyPr wrap="square" lIns="0" tIns="0" rIns="0" bIns="0" rtlCol="0" anchor="ctr"/>
          <a:lstStyle/>
          <a:p>
            <a:pPr indent="0" marL="0">
              <a:buNone/>
            </a:pPr>
            <a:r>
              <a:rPr lang="id-ID" altLang="en-US" sz="1700" dirty="0">
                <a:solidFill>
                  <a:srgbClr val="585660"/>
                </a:solidFill>
                <a:latin typeface="Aptos" pitchFamily="34" charset="0"/>
                <a:ea typeface="Aptos" pitchFamily="34" charset="-122"/>
                <a:cs typeface="Aptos" pitchFamily="34" charset="-120"/>
              </a:rPr>
              <a:t>Mencari opsi tax-loss harvesting.</a:t>
            </a:r>
            <a:endParaRPr lang="id-ID" sz="1700" dirty="0"/>
          </a:p>
        </p:txBody>
      </p:sp>
      <p:sp>
        <p:nvSpPr>
          <p:cNvPr id="63" name="Shape 61"/>
          <p:cNvSpPr/>
          <p:nvPr/>
        </p:nvSpPr>
        <p:spPr>
          <a:xfrm>
            <a:off x="9738360" y="5586984"/>
            <a:ext cx="4389120" cy="713232"/>
          </a:xfrm>
          <a:prstGeom prst="roundRect">
            <a:avLst>
              <a:gd name="adj" fmla="val 11538"/>
            </a:avLst>
          </a:prstGeom>
          <a:solidFill>
            <a:srgbClr val="F0EFF2"/>
          </a:solidFill>
          <a:ln w="6985">
            <a:solidFill>
              <a:srgbClr val="DFDCE2"/>
            </a:solidFill>
            <a:prstDash val="solid"/>
          </a:ln>
        </p:spPr>
      </p:sp>
      <p:sp>
        <p:nvSpPr>
          <p:cNvPr id="64" name="Text 62"/>
          <p:cNvSpPr/>
          <p:nvPr/>
        </p:nvSpPr>
        <p:spPr>
          <a:xfrm>
            <a:off x="9912096" y="5650992"/>
            <a:ext cx="4041648" cy="320040"/>
          </a:xfrm>
          <a:prstGeom prst="rect">
            <a:avLst/>
          </a:prstGeom>
          <a:noFill/>
          <a:ln/>
        </p:spPr>
        <p:txBody>
          <a:bodyPr wrap="square" lIns="0" tIns="0" rIns="0" bIns="0" rtlCol="0" anchor="ctr"/>
          <a:lstStyle/>
          <a:p>
            <a:pPr indent="0" marL="0">
              <a:buNone/>
            </a:pPr>
            <a:r>
              <a:rPr lang="en-US" altLang="en-US" sz="2000" b="1" dirty="0">
                <a:solidFill>
                  <a:srgbClr val="3E3C43"/>
                </a:solidFill>
                <a:latin typeface="Aptos" pitchFamily="34" charset="0"/>
                <a:ea typeface="Aptos" pitchFamily="34" charset="-122"/>
                <a:cs typeface="Aptos" pitchFamily="34" charset="-120"/>
              </a:rPr>
              <a:t>thesis-tracker</a:t>
            </a:r>
            <a:endParaRPr lang="en-US" sz="2000" dirty="0"/>
          </a:p>
        </p:txBody>
      </p:sp>
      <p:sp>
        <p:nvSpPr>
          <p:cNvPr id="65" name="Text 63"/>
          <p:cNvSpPr/>
          <p:nvPr/>
        </p:nvSpPr>
        <p:spPr>
          <a:xfrm>
            <a:off x="9912096" y="5980176"/>
            <a:ext cx="4041648" cy="274320"/>
          </a:xfrm>
          <a:prstGeom prst="rect">
            <a:avLst/>
          </a:prstGeom>
          <a:noFill/>
          <a:ln/>
        </p:spPr>
        <p:txBody>
          <a:bodyPr wrap="square" lIns="0" tIns="0" rIns="0" bIns="0" rtlCol="0" anchor="ctr"/>
          <a:lstStyle/>
          <a:p>
            <a:pPr indent="0" marL="0">
              <a:buNone/>
            </a:pPr>
            <a:r>
              <a:rPr lang="id-ID" altLang="en-US" sz="1700" dirty="0">
                <a:solidFill>
                  <a:srgbClr val="585660"/>
                </a:solidFill>
                <a:latin typeface="Aptos" pitchFamily="34" charset="0"/>
                <a:ea typeface="Aptos" pitchFamily="34" charset="-122"/>
                <a:cs typeface="Aptos" pitchFamily="34" charset="-120"/>
              </a:rPr>
              <a:t>Memantau tesis investasi.</a:t>
            </a:r>
            <a:endParaRPr lang="id-ID" sz="1700" dirty="0"/>
          </a:p>
        </p:txBody>
      </p:sp>
      <p:sp>
        <p:nvSpPr>
          <p:cNvPr id="66" name="Shape 64"/>
          <p:cNvSpPr/>
          <p:nvPr/>
        </p:nvSpPr>
        <p:spPr>
          <a:xfrm>
            <a:off x="9738360" y="6382512"/>
            <a:ext cx="4389120" cy="713232"/>
          </a:xfrm>
          <a:prstGeom prst="roundRect">
            <a:avLst>
              <a:gd name="adj" fmla="val 11538"/>
            </a:avLst>
          </a:prstGeom>
          <a:solidFill>
            <a:srgbClr val="F0EFF2"/>
          </a:solidFill>
          <a:ln w="6985">
            <a:solidFill>
              <a:srgbClr val="DFDCE2"/>
            </a:solidFill>
            <a:prstDash val="solid"/>
          </a:ln>
        </p:spPr>
      </p:sp>
      <p:sp>
        <p:nvSpPr>
          <p:cNvPr id="67" name="Text 65"/>
          <p:cNvSpPr/>
          <p:nvPr/>
        </p:nvSpPr>
        <p:spPr>
          <a:xfrm>
            <a:off x="9912096" y="6446520"/>
            <a:ext cx="4041648" cy="320040"/>
          </a:xfrm>
          <a:prstGeom prst="rect">
            <a:avLst/>
          </a:prstGeom>
          <a:noFill/>
          <a:ln/>
        </p:spPr>
        <p:txBody>
          <a:bodyPr wrap="square" lIns="0" tIns="0" rIns="0" bIns="0" rtlCol="0" anchor="ctr"/>
          <a:lstStyle/>
          <a:p>
            <a:pPr indent="0" marL="0">
              <a:buNone/>
            </a:pPr>
            <a:r>
              <a:rPr lang="en-US" altLang="en-US" sz="2000" b="1" dirty="0">
                <a:solidFill>
                  <a:srgbClr val="3E3C43"/>
                </a:solidFill>
                <a:latin typeface="Aptos" pitchFamily="34" charset="0"/>
                <a:ea typeface="Aptos" pitchFamily="34" charset="-122"/>
                <a:cs typeface="Aptos" pitchFamily="34" charset="-120"/>
              </a:rPr>
              <a:t>unit-economics</a:t>
            </a:r>
            <a:endParaRPr lang="en-US" sz="2000" dirty="0"/>
          </a:p>
        </p:txBody>
      </p:sp>
      <p:sp>
        <p:nvSpPr>
          <p:cNvPr id="68" name="Text 66"/>
          <p:cNvSpPr/>
          <p:nvPr/>
        </p:nvSpPr>
        <p:spPr>
          <a:xfrm>
            <a:off x="9912096" y="6775704"/>
            <a:ext cx="4041648" cy="274320"/>
          </a:xfrm>
          <a:prstGeom prst="rect">
            <a:avLst/>
          </a:prstGeom>
          <a:noFill/>
          <a:ln/>
        </p:spPr>
        <p:txBody>
          <a:bodyPr wrap="square" lIns="0" tIns="0" rIns="0" bIns="0" rtlCol="0" anchor="ctr"/>
          <a:lstStyle/>
          <a:p>
            <a:pPr indent="0" marL="0">
              <a:buNone/>
            </a:pPr>
            <a:r>
              <a:rPr lang="id-ID" altLang="en-US" sz="1700" dirty="0">
                <a:solidFill>
                  <a:srgbClr val="585660"/>
                </a:solidFill>
                <a:latin typeface="Aptos" pitchFamily="34" charset="0"/>
                <a:ea typeface="Aptos" pitchFamily="34" charset="-122"/>
                <a:cs typeface="Aptos" pitchFamily="34" charset="-120"/>
              </a:rPr>
              <a:t>Menganalisis unit economics SaaS.</a:t>
            </a:r>
            <a:endParaRPr lang="id-ID" sz="1700" dirty="0"/>
          </a:p>
        </p:txBody>
      </p:sp>
      <p:sp>
        <p:nvSpPr>
          <p:cNvPr id="69" name="Text 67"/>
          <p:cNvSpPr/>
          <p:nvPr/>
        </p:nvSpPr>
        <p:spPr>
          <a:xfrm>
            <a:off x="521208" y="7388352"/>
            <a:ext cx="13587984" cy="246888"/>
          </a:xfrm>
          <a:prstGeom prst="rect">
            <a:avLst/>
          </a:prstGeom>
          <a:noFill/>
          <a:ln/>
        </p:spPr>
        <p:txBody>
          <a:bodyPr wrap="square" lIns="0" tIns="0" rIns="0" bIns="0" rtlCol="0" anchor="ctr"/>
          <a:lstStyle/>
          <a:p>
            <a:pPr indent="0" marL="0">
              <a:buNone/>
            </a:pPr>
            <a:r>
              <a:rPr lang="id-ID" altLang="en-US" sz="1450" dirty="0">
                <a:solidFill>
                  <a:srgbClr val="585660"/>
                </a:solidFill>
                <a:latin typeface="Aptos" pitchFamily="34" charset="0"/>
                <a:ea typeface="Aptos" pitchFamily="34" charset="-122"/>
                <a:cs typeface="Aptos" pitchFamily="34" charset="-120"/>
              </a:rPr>
              <a:t>Ketersediaan bergantung pada tenant dan konfigurasi. Daftar ini bukan katalog universal atau real-time.</a:t>
            </a:r>
            <a:endParaRPr lang="id-ID" sz="1450" dirty="0"/>
          </a:p>
        </p:txBody>
      </p:sp>
      <p:sp>
        <p:nvSpPr>
          <p:cNvPr id="70" name="Text 68"/>
          <p:cNvSpPr/>
          <p:nvPr/>
        </p:nvSpPr>
        <p:spPr>
          <a:xfrm>
            <a:off x="521208" y="7680960"/>
            <a:ext cx="13587984" cy="228600"/>
          </a:xfrm>
          <a:prstGeom prst="rect">
            <a:avLst/>
          </a:prstGeom>
          <a:noFill/>
          <a:ln/>
        </p:spPr>
        <p:txBody>
          <a:bodyPr wrap="square" lIns="0" tIns="0" rIns="0" bIns="0" rtlCol="0" anchor="ctr"/>
          <a:lstStyle/>
          <a:p>
            <a:pPr indent="0" marL="0">
              <a:buNone/>
            </a:pPr>
            <a:r>
              <a:rPr lang="id-ID" altLang="en-US" sz="1400" dirty="0">
                <a:solidFill>
                  <a:srgbClr val="585660"/>
                </a:solidFill>
                <a:latin typeface="Aptos" pitchFamily="34" charset="0"/>
                <a:ea typeface="Aptos" pitchFamily="34" charset="-122"/>
                <a:cs typeface="Aptos" pitchFamily="34" charset="-120"/>
              </a:rPr>
              <a:t>“Variance analysis” adalah nama tugas, bukan skill yang diasumsikan aktif.</a:t>
            </a:r>
            <a:endParaRPr lang="id-ID"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21 skill Finance di Excel</dc:title>
  <dc:subject>Customer screenshot reference: Finance skills in Excel</dc:subject>
  <dc:creator>Microsoft Scout</dc:creator>
  <cp:lastModifiedBy>Microsoft Scout</cp:lastModifiedBy>
  <cp:revision>1</cp:revision>
  <dcterms:created xsi:type="dcterms:W3CDTF">2026-09-10T15:45:37Z</dcterms:created>
  <dcterms:modified xsi:type="dcterms:W3CDTF">2026-09-10T15:45:37Z</dcterms:modified>
</cp:coreProperties>
</file>